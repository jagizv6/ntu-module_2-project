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5143500" cy="9144000"/>
  <p:embeddedFontLst>
    <p:embeddedFont>
      <p:font typeface="Roboto"/>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ghIBFndAFRGwqDUI82Lnmw50O/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8AE3AB-65F7-4BB3-BCFA-9C31ED48BC52}">
  <a:tblStyle styleId="{638AE3AB-65F7-4BB3-BCFA-9C31ED48BC5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RobotoMono-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8" Type="http://customschemas.google.com/relationships/presentationmetadata" Target="meta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26b78a17e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26b78a17e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3d26b78a17e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d26b78a17e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 name="Google Shape;82;g3d26b78a17e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g3d26b78a17e_0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d26b78a17e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 name="Google Shape;95;g3d26b78a17e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d26b78a17e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26b78a17e_0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d26b78a17e_0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156" name="Google Shape;156;g3d26b78a17e_0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26b78a17e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26b78a17e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167" name="Google Shape;167;g3d26b78a17e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26b78a17e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d26b78a17e_0_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176" name="Google Shape;176;g3d26b78a17e_0_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c9337976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3dc9337976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25" name="Google Shape;225;g3dc9337976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26b78a17e_0_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26b78a17e_0_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35" name="Google Shape;235;g3d26b78a17e_0_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26b78a17e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d26b78a17e_0_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45" name="Google Shape;245;g3d26b78a17e_0_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c97b155af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g3dc97b155af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54" name="Google Shape;254;g3dc97b155af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c97b155af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dc97b155af_0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b="1" lang="en-US">
                <a:latin typeface="Arial"/>
                <a:ea typeface="Arial"/>
                <a:cs typeface="Arial"/>
                <a:sym typeface="Arial"/>
              </a:rPr>
              <a:t># Correlation heatmap</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cols = ['brent_price', 'wti_price', 'dxy_index', 'vix', 'gpr_index', 'brent_return', 'wti_return']</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fig, ax = plt.subplots(figsize=(9, 7))</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sns.heatmap(df[cols].corr(), annot=True, fmt='.2f', cmap='coolwarm', ax=ax)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ax.set_title('Correlation Matrix')</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plt.tight_layout()</a:t>
            </a:r>
            <a:endParaRPr b="1">
              <a:latin typeface="Arial"/>
              <a:ea typeface="Arial"/>
              <a:cs typeface="Arial"/>
              <a:sym typeface="Arial"/>
            </a:endParaRPr>
          </a:p>
          <a:p>
            <a:pPr indent="0" lvl="0" marL="0" rtl="0" algn="l">
              <a:spcBef>
                <a:spcPts val="0"/>
              </a:spcBef>
              <a:spcAft>
                <a:spcPts val="0"/>
              </a:spcAft>
              <a:buSzPts val="1100"/>
              <a:buNone/>
            </a:pPr>
            <a:r>
              <a:rPr b="1" lang="en-US">
                <a:latin typeface="Arial"/>
                <a:ea typeface="Arial"/>
                <a:cs typeface="Arial"/>
                <a:sym typeface="Arial"/>
              </a:rPr>
              <a:t>plt.show()</a:t>
            </a:r>
            <a:endParaRPr b="1">
              <a:latin typeface="Arial"/>
              <a:ea typeface="Arial"/>
              <a:cs typeface="Arial"/>
              <a:sym typeface="Arial"/>
            </a:endParaRPr>
          </a:p>
          <a:p>
            <a:pPr indent="0" lvl="0" marL="0" rtl="0" algn="l">
              <a:spcBef>
                <a:spcPts val="0"/>
              </a:spcBef>
              <a:spcAft>
                <a:spcPts val="0"/>
              </a:spcAft>
              <a:buNone/>
            </a:pPr>
            <a:r>
              <a:t/>
            </a:r>
            <a:endParaRPr/>
          </a:p>
        </p:txBody>
      </p:sp>
      <p:sp>
        <p:nvSpPr>
          <p:cNvPr id="265" name="Google Shape;265;g3dc97b155af_0_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dc9337976c_0_7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g3dc9337976c_0_7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dc9337976c_0_7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dc9337976c_0_77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g3dc9337976c_0_7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dc9337976c_0_78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g3dc9337976c_0_78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g3dc9337976c_0_7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dc9337976c_0_78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 name="Google Shape;26;g3dc9337976c_0_78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g3dc9337976c_0_78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g3dc9337976c_0_7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dc9337976c_0_79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g3dc9337976c_0_7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dc9337976c_0_79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g3dc9337976c_0_79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g3dc9337976c_0_7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dc9337976c_0_79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g3dc9337976c_0_7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dc9337976c_0_8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g3dc9337976c_0_8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g3dc9337976c_0_80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g3dc9337976c_0_8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g3dc9337976c_0_8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dc9337976c_0_80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g3dc9337976c_0_8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dc9337976c_0_80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g3dc9337976c_0_80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g3dc9337976c_0_8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dc9337976c_0_8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4" name="Shape 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dc9337976c_0_7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1" name="Google Shape;11;g3dc9337976c_0_7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2" name="Google Shape;12;g3dc9337976c_0_7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9" name="Shape 59"/>
        <p:cNvGrpSpPr/>
        <p:nvPr/>
      </p:nvGrpSpPr>
      <p:grpSpPr>
        <a:xfrm>
          <a:off x="0" y="0"/>
          <a:ext cx="0" cy="0"/>
          <a:chOff x="0" y="0"/>
          <a:chExt cx="0" cy="0"/>
        </a:xfrm>
      </p:grpSpPr>
      <p:sp>
        <p:nvSpPr>
          <p:cNvPr id="60" name="Google Shape;60;p1"/>
          <p:cNvSpPr/>
          <p:nvPr/>
        </p:nvSpPr>
        <p:spPr>
          <a:xfrm>
            <a:off x="0" y="0"/>
            <a:ext cx="457200" cy="5143500"/>
          </a:xfrm>
          <a:prstGeom prst="rect">
            <a:avLst/>
          </a:prstGeom>
          <a:solidFill>
            <a:srgbClr val="073763"/>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
          <p:cNvSpPr/>
          <p:nvPr/>
        </p:nvSpPr>
        <p:spPr>
          <a:xfrm>
            <a:off x="777240" y="59436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chemeClr val="dk1"/>
                </a:solidFill>
                <a:latin typeface="Calibri"/>
                <a:ea typeface="Calibri"/>
                <a:cs typeface="Calibri"/>
                <a:sym typeface="Calibri"/>
              </a:rPr>
              <a:t>GLOBAL OIL PRICES</a:t>
            </a:r>
            <a:endParaRPr b="0" i="0" sz="3600" u="none" cap="none" strike="noStrike">
              <a:solidFill>
                <a:schemeClr val="dk1"/>
              </a:solidFill>
              <a:latin typeface="Calibri"/>
              <a:ea typeface="Calibri"/>
              <a:cs typeface="Calibri"/>
              <a:sym typeface="Calibri"/>
            </a:endParaRPr>
          </a:p>
        </p:txBody>
      </p:sp>
      <p:sp>
        <p:nvSpPr>
          <p:cNvPr id="62" name="Google Shape;62;p1"/>
          <p:cNvSpPr/>
          <p:nvPr/>
        </p:nvSpPr>
        <p:spPr>
          <a:xfrm>
            <a:off x="777240" y="12344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A500"/>
              </a:buClr>
              <a:buSzPts val="2200"/>
              <a:buFont typeface="Calibri"/>
              <a:buNone/>
            </a:pPr>
            <a:r>
              <a:rPr b="0" i="0" lang="en-US" sz="2200" u="none" cap="none" strike="noStrike">
                <a:solidFill>
                  <a:srgbClr val="F0A500"/>
                </a:solidFill>
                <a:latin typeface="Calibri"/>
                <a:ea typeface="Calibri"/>
                <a:cs typeface="Calibri"/>
                <a:sym typeface="Calibri"/>
              </a:rPr>
              <a:t>&amp; Geopolitical Events Pipeline</a:t>
            </a:r>
            <a:endParaRPr b="0" i="0" sz="2200" u="none" cap="none" strike="noStrike">
              <a:solidFill>
                <a:schemeClr val="dk1"/>
              </a:solidFill>
              <a:latin typeface="Calibri"/>
              <a:ea typeface="Calibri"/>
              <a:cs typeface="Calibri"/>
              <a:sym typeface="Calibri"/>
            </a:endParaRPr>
          </a:p>
        </p:txBody>
      </p:sp>
      <p:sp>
        <p:nvSpPr>
          <p:cNvPr id="63" name="Google Shape;63;p1"/>
          <p:cNvSpPr/>
          <p:nvPr/>
        </p:nvSpPr>
        <p:spPr>
          <a:xfrm>
            <a:off x="548640" y="4815840"/>
            <a:ext cx="8412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7D2FE"/>
              </a:buClr>
              <a:buSzPts val="1200"/>
              <a:buFont typeface="Calibri"/>
              <a:buNone/>
            </a:pPr>
            <a:r>
              <a:rPr b="0" i="1" lang="en-US" sz="1200" u="none" cap="none" strike="noStrike">
                <a:solidFill>
                  <a:schemeClr val="dk1"/>
                </a:solidFill>
                <a:latin typeface="Calibri"/>
                <a:ea typeface="Calibri"/>
                <a:cs typeface="Calibri"/>
                <a:sym typeface="Calibri"/>
              </a:rPr>
              <a:t>From Raw CSV to Business Insight — Powered by DuckDB, Meltano, BigQuery, dbt &amp; Dagster</a:t>
            </a:r>
            <a:endParaRPr b="0" i="1" sz="1200" u="none" cap="none" strike="noStrike">
              <a:solidFill>
                <a:schemeClr val="dk1"/>
              </a:solidFill>
              <a:latin typeface="Calibri"/>
              <a:ea typeface="Calibri"/>
              <a:cs typeface="Calibri"/>
              <a:sym typeface="Calibri"/>
            </a:endParaRPr>
          </a:p>
        </p:txBody>
      </p:sp>
      <p:sp>
        <p:nvSpPr>
          <p:cNvPr id="64" name="Google Shape;64;p1"/>
          <p:cNvSpPr/>
          <p:nvPr/>
        </p:nvSpPr>
        <p:spPr>
          <a:xfrm>
            <a:off x="777240" y="1783080"/>
            <a:ext cx="5029200" cy="36576"/>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
          <p:cNvSpPr/>
          <p:nvPr/>
        </p:nvSpPr>
        <p:spPr>
          <a:xfrm>
            <a:off x="701475" y="1820747"/>
            <a:ext cx="7315200" cy="102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7D2FE"/>
              </a:buClr>
              <a:buSzPts val="1400"/>
              <a:buFont typeface="Calibri"/>
              <a:buNone/>
            </a:pPr>
            <a:r>
              <a:rPr lang="en-US">
                <a:solidFill>
                  <a:schemeClr val="dk1"/>
                </a:solidFill>
                <a:latin typeface="Calibri"/>
                <a:ea typeface="Calibri"/>
                <a:cs typeface="Calibri"/>
                <a:sym typeface="Calibri"/>
              </a:rPr>
              <a:t>Advanced Professional Certificate in Data Science &amp; Artificial Intelligence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t/>
            </a:r>
            <a:endParaRPr>
              <a:solidFill>
                <a:schemeClr val="dk1"/>
              </a:solidFill>
              <a:latin typeface="Calibri"/>
              <a:ea typeface="Calibri"/>
              <a:cs typeface="Calibri"/>
              <a:sym typeface="Calibri"/>
            </a:endParaRPr>
          </a:p>
          <a:p>
            <a:pPr indent="0" lvl="0" marL="0" marR="0" rtl="0" algn="l">
              <a:spcBef>
                <a:spcPts val="0"/>
              </a:spcBef>
              <a:spcAft>
                <a:spcPts val="0"/>
              </a:spcAft>
              <a:buClr>
                <a:srgbClr val="C7D2FE"/>
              </a:buClr>
              <a:buSzPts val="1400"/>
              <a:buFont typeface="Calibri"/>
              <a:buNone/>
            </a:pPr>
            <a:r>
              <a:rPr b="0" i="0" lang="en-US" sz="1400" u="none" cap="none" strike="noStrike">
                <a:solidFill>
                  <a:schemeClr val="dk1"/>
                </a:solidFill>
                <a:latin typeface="Calibri"/>
                <a:ea typeface="Calibri"/>
                <a:cs typeface="Calibri"/>
                <a:sym typeface="Calibri"/>
              </a:rPr>
              <a:t>Module 2 Project | </a:t>
            </a:r>
            <a:r>
              <a:rPr lang="en-US">
                <a:solidFill>
                  <a:schemeClr val="dk1"/>
                </a:solidFill>
                <a:latin typeface="Calibri"/>
                <a:ea typeface="Calibri"/>
                <a:cs typeface="Calibri"/>
                <a:sym typeface="Calibri"/>
              </a:rPr>
              <a:t>DSAI-4 |Group- 8</a:t>
            </a:r>
            <a:endParaRPr>
              <a:solidFill>
                <a:schemeClr val="dk1"/>
              </a:solidFill>
              <a:latin typeface="Calibri"/>
              <a:ea typeface="Calibri"/>
              <a:cs typeface="Calibri"/>
              <a:sym typeface="Calibri"/>
            </a:endParaRPr>
          </a:p>
          <a:p>
            <a:pPr indent="0" lvl="0" marL="0" marR="0" rtl="0" algn="l">
              <a:spcBef>
                <a:spcPts val="0"/>
              </a:spcBef>
              <a:spcAft>
                <a:spcPts val="0"/>
              </a:spcAft>
              <a:buNone/>
            </a:pPr>
            <a:r>
              <a:t/>
            </a:r>
            <a:endParaRPr>
              <a:solidFill>
                <a:srgbClr val="C7D2FE"/>
              </a:solidFill>
              <a:latin typeface="Calibri"/>
              <a:ea typeface="Calibri"/>
              <a:cs typeface="Calibri"/>
              <a:sym typeface="Calibri"/>
            </a:endParaRPr>
          </a:p>
        </p:txBody>
      </p:sp>
      <p:sp>
        <p:nvSpPr>
          <p:cNvPr id="66" name="Google Shape;66;p1"/>
          <p:cNvSpPr txBox="1"/>
          <p:nvPr/>
        </p:nvSpPr>
        <p:spPr>
          <a:xfrm>
            <a:off x="854065" y="3041750"/>
            <a:ext cx="2084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chemeClr val="dk1"/>
                </a:solidFill>
                <a:latin typeface="Calibri"/>
                <a:ea typeface="Calibri"/>
                <a:cs typeface="Calibri"/>
                <a:sym typeface="Calibri"/>
              </a:rPr>
              <a:t>Team Members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Daniel Chan Chee Seng</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Edwin Yap Wei Tian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Julius Tiew</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Jagatheeswaran Rajagurunathan</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Bhupinder Kaur </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1" name="Shape 71"/>
        <p:cNvGrpSpPr/>
        <p:nvPr/>
      </p:nvGrpSpPr>
      <p:grpSpPr>
        <a:xfrm>
          <a:off x="0" y="0"/>
          <a:ext cx="0" cy="0"/>
          <a:chOff x="0" y="0"/>
          <a:chExt cx="0" cy="0"/>
        </a:xfrm>
      </p:grpSpPr>
      <p:sp>
        <p:nvSpPr>
          <p:cNvPr id="72" name="Google Shape;72;g3d26b78a17e_0_1"/>
          <p:cNvSpPr/>
          <p:nvPr/>
        </p:nvSpPr>
        <p:spPr>
          <a:xfrm>
            <a:off x="0" y="0"/>
            <a:ext cx="9144000" cy="454500"/>
          </a:xfrm>
          <a:prstGeom prst="rect">
            <a:avLst/>
          </a:prstGeom>
          <a:solidFill>
            <a:srgbClr val="073763"/>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d26b78a17e_0_1"/>
          <p:cNvSpPr/>
          <p:nvPr/>
        </p:nvSpPr>
        <p:spPr>
          <a:xfrm>
            <a:off x="365750" y="91445"/>
            <a:ext cx="8229600" cy="298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Executive Summary</a:t>
            </a:r>
            <a:endParaRPr b="0" i="0" sz="2600" u="none" cap="none" strike="noStrike">
              <a:solidFill>
                <a:schemeClr val="dk1"/>
              </a:solidFill>
              <a:latin typeface="Calibri"/>
              <a:ea typeface="Calibri"/>
              <a:cs typeface="Calibri"/>
              <a:sym typeface="Calibri"/>
            </a:endParaRPr>
          </a:p>
        </p:txBody>
      </p:sp>
      <p:sp>
        <p:nvSpPr>
          <p:cNvPr id="74" name="Google Shape;74;g3d26b78a17e_0_1"/>
          <p:cNvSpPr txBox="1"/>
          <p:nvPr/>
        </p:nvSpPr>
        <p:spPr>
          <a:xfrm>
            <a:off x="162950" y="1392784"/>
            <a:ext cx="8789400" cy="103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sz="1200">
                <a:solidFill>
                  <a:schemeClr val="dk1"/>
                </a:solidFill>
                <a:latin typeface="Calibri"/>
                <a:ea typeface="Calibri"/>
                <a:cs typeface="Calibri"/>
                <a:sym typeface="Calibri"/>
              </a:rPr>
              <a:t>The global oil market is highly sensitive to geopolitical events, macroeconomic shifts, and market sentiment. Understanding how these factors interact with oil price movements is critical for energy analysts, policymakers, and investors. </a:t>
            </a:r>
            <a:endParaRPr sz="1200">
              <a:solidFill>
                <a:schemeClr val="dk1"/>
              </a:solidFill>
              <a:latin typeface="Calibri"/>
              <a:ea typeface="Calibri"/>
              <a:cs typeface="Calibri"/>
              <a:sym typeface="Calibri"/>
            </a:endParaRPr>
          </a:p>
          <a:p>
            <a:pPr indent="0" lvl="0" marL="0" rtl="0" algn="l">
              <a:lnSpc>
                <a:spcPct val="115000"/>
              </a:lnSpc>
              <a:spcBef>
                <a:spcPts val="200"/>
              </a:spcBef>
              <a:spcAft>
                <a:spcPts val="200"/>
              </a:spcAft>
              <a:buNone/>
            </a:pPr>
            <a:r>
              <a:rPr lang="en-US" sz="1200">
                <a:solidFill>
                  <a:schemeClr val="dk1"/>
                </a:solidFill>
                <a:latin typeface="Calibri"/>
                <a:ea typeface="Calibri"/>
                <a:cs typeface="Calibri"/>
                <a:sym typeface="Calibri"/>
              </a:rPr>
              <a:t>However, the relationship between geopolitical risk, financial market volatility, and oil prices is complex, non-linear, and varies across different market regimes.</a:t>
            </a:r>
            <a:endParaRPr sz="1200">
              <a:solidFill>
                <a:schemeClr val="dk1"/>
              </a:solidFill>
              <a:latin typeface="Calibri"/>
              <a:ea typeface="Calibri"/>
              <a:cs typeface="Calibri"/>
              <a:sym typeface="Calibri"/>
            </a:endParaRPr>
          </a:p>
        </p:txBody>
      </p:sp>
      <p:sp>
        <p:nvSpPr>
          <p:cNvPr id="75" name="Google Shape;75;g3d26b78a17e_0_1"/>
          <p:cNvSpPr txBox="1"/>
          <p:nvPr/>
        </p:nvSpPr>
        <p:spPr>
          <a:xfrm>
            <a:off x="166800" y="1008634"/>
            <a:ext cx="3000000" cy="67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600">
                <a:solidFill>
                  <a:schemeClr val="dk1"/>
                </a:solidFill>
                <a:latin typeface="Calibri"/>
                <a:ea typeface="Calibri"/>
                <a:cs typeface="Calibri"/>
                <a:sym typeface="Calibri"/>
              </a:rPr>
              <a:t>Background</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
        <p:nvSpPr>
          <p:cNvPr id="76" name="Google Shape;76;g3d26b78a17e_0_1"/>
          <p:cNvSpPr txBox="1"/>
          <p:nvPr/>
        </p:nvSpPr>
        <p:spPr>
          <a:xfrm>
            <a:off x="162950" y="2704743"/>
            <a:ext cx="85725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3C4043"/>
                </a:solidFill>
                <a:latin typeface="Calibri"/>
                <a:ea typeface="Calibri"/>
                <a:cs typeface="Calibri"/>
                <a:sym typeface="Calibri"/>
              </a:rPr>
              <a:t>This dataset explores the relationship between </a:t>
            </a:r>
            <a:r>
              <a:rPr b="1" lang="en-US" sz="1200">
                <a:solidFill>
                  <a:srgbClr val="3C4043"/>
                </a:solidFill>
                <a:latin typeface="Calibri"/>
                <a:ea typeface="Calibri"/>
                <a:cs typeface="Calibri"/>
                <a:sym typeface="Calibri"/>
              </a:rPr>
              <a:t>global oil markets and geopolitical events</a:t>
            </a:r>
            <a:r>
              <a:rPr lang="en-US" sz="1200">
                <a:solidFill>
                  <a:srgbClr val="3C4043"/>
                </a:solidFill>
                <a:latin typeface="Calibri"/>
                <a:ea typeface="Calibri"/>
                <a:cs typeface="Calibri"/>
                <a:sym typeface="Calibri"/>
              </a:rPr>
              <a:t> from </a:t>
            </a:r>
            <a:r>
              <a:rPr b="1" lang="en-US" sz="1200">
                <a:solidFill>
                  <a:srgbClr val="3C4043"/>
                </a:solidFill>
                <a:latin typeface="Calibri"/>
                <a:ea typeface="Calibri"/>
                <a:cs typeface="Calibri"/>
                <a:sym typeface="Calibri"/>
              </a:rPr>
              <a:t>2010 to 2026</a:t>
            </a:r>
            <a:r>
              <a:rPr lang="en-US" sz="1200">
                <a:solidFill>
                  <a:srgbClr val="3C4043"/>
                </a:solidFill>
                <a:latin typeface="Calibri"/>
                <a:ea typeface="Calibri"/>
                <a:cs typeface="Calibri"/>
                <a:sym typeface="Calibri"/>
              </a:rPr>
              <a:t>. It combines daily oil price data with macroeconomic indicators, a geopolitical risk index, and a curated timeline of major global events that have historically influenced energy markets.</a:t>
            </a:r>
            <a:endParaRPr sz="1200">
              <a:solidFill>
                <a:srgbClr val="3C4043"/>
              </a:solidFill>
              <a:latin typeface="Calibri"/>
              <a:ea typeface="Calibri"/>
              <a:cs typeface="Calibri"/>
              <a:sym typeface="Calibri"/>
            </a:endParaRPr>
          </a:p>
          <a:p>
            <a:pPr indent="0" lvl="0" marL="0" rtl="0" algn="l">
              <a:lnSpc>
                <a:spcPct val="115000"/>
              </a:lnSpc>
              <a:spcBef>
                <a:spcPts val="1200"/>
              </a:spcBef>
              <a:spcAft>
                <a:spcPts val="0"/>
              </a:spcAft>
              <a:buNone/>
            </a:pPr>
            <a:r>
              <a:t/>
            </a:r>
            <a:endParaRPr sz="1200">
              <a:solidFill>
                <a:schemeClr val="dk1"/>
              </a:solidFill>
            </a:endParaRPr>
          </a:p>
        </p:txBody>
      </p:sp>
      <p:sp>
        <p:nvSpPr>
          <p:cNvPr id="77" name="Google Shape;77;g3d26b78a17e_0_1"/>
          <p:cNvSpPr txBox="1"/>
          <p:nvPr/>
        </p:nvSpPr>
        <p:spPr>
          <a:xfrm>
            <a:off x="166800" y="241458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latin typeface="Calibri"/>
                <a:ea typeface="Calibri"/>
                <a:cs typeface="Calibri"/>
                <a:sym typeface="Calibri"/>
              </a:rPr>
              <a:t>Overview</a:t>
            </a:r>
            <a:endParaRPr b="1">
              <a:latin typeface="Calibri"/>
              <a:ea typeface="Calibri"/>
              <a:cs typeface="Calibri"/>
              <a:sym typeface="Calibri"/>
            </a:endParaRPr>
          </a:p>
          <a:p>
            <a:pPr indent="0" lvl="0" marL="0" rtl="0" algn="l">
              <a:spcBef>
                <a:spcPts val="0"/>
              </a:spcBef>
              <a:spcAft>
                <a:spcPts val="0"/>
              </a:spcAft>
              <a:buNone/>
            </a:pPr>
            <a:r>
              <a:t/>
            </a:r>
            <a:endParaRPr/>
          </a:p>
        </p:txBody>
      </p:sp>
      <p:sp>
        <p:nvSpPr>
          <p:cNvPr id="78" name="Google Shape;78;g3d26b78a17e_0_1"/>
          <p:cNvSpPr txBox="1"/>
          <p:nvPr/>
        </p:nvSpPr>
        <p:spPr>
          <a:xfrm>
            <a:off x="162950" y="3599825"/>
            <a:ext cx="8923500" cy="1477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90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Brent Crude (Global Benchmark)</a:t>
            </a:r>
            <a:r>
              <a:rPr lang="en-US" sz="1200">
                <a:solidFill>
                  <a:srgbClr val="0A0A0A"/>
                </a:solidFill>
                <a:latin typeface="Calibri"/>
                <a:ea typeface="Calibri"/>
                <a:cs typeface="Calibri"/>
                <a:sym typeface="Calibri"/>
              </a:rPr>
              <a:t>: Often referred to as European/North Sea crude, this is used to price roughly two-thirds of the world's traded oil. It is primarily refined in Northwest Europe and is sensitive to political tensions in Europe, Africa, and the Middle East.</a:t>
            </a:r>
            <a:endParaRPr sz="1200">
              <a:solidFill>
                <a:srgbClr val="0A0A0A"/>
              </a:solidFill>
              <a:latin typeface="Calibri"/>
              <a:ea typeface="Calibri"/>
              <a:cs typeface="Calibri"/>
              <a:sym typeface="Calibri"/>
            </a:endParaRPr>
          </a:p>
          <a:p>
            <a:pPr indent="-304800" lvl="0" marL="457200" rtl="0" algn="l">
              <a:lnSpc>
                <a:spcPct val="150000"/>
              </a:lnSpc>
              <a:spcBef>
                <a:spcPts val="0"/>
              </a:spcBef>
              <a:spcAft>
                <a:spcPts val="0"/>
              </a:spcAft>
              <a:buClr>
                <a:srgbClr val="0A0A0A"/>
              </a:buClr>
              <a:buSzPts val="1200"/>
              <a:buFont typeface="Calibri"/>
              <a:buChar char="●"/>
            </a:pPr>
            <a:r>
              <a:rPr b="1" lang="en-US" sz="1200">
                <a:solidFill>
                  <a:srgbClr val="0A0A0A"/>
                </a:solidFill>
                <a:latin typeface="Calibri"/>
                <a:ea typeface="Calibri"/>
                <a:cs typeface="Calibri"/>
                <a:sym typeface="Calibri"/>
              </a:rPr>
              <a:t>WTI Crude (US Benchmark):</a:t>
            </a:r>
            <a:r>
              <a:rPr lang="en-US" sz="1200">
                <a:solidFill>
                  <a:srgbClr val="0A0A0A"/>
                </a:solidFill>
                <a:latin typeface="Calibri"/>
                <a:ea typeface="Calibri"/>
                <a:cs typeface="Calibri"/>
                <a:sym typeface="Calibri"/>
              </a:rPr>
              <a:t>  Referred to as US Crude or Light Sweet Crude, this is primarily used for gasoline production in the United States. It is transported via pipeline from locations like Cushing, Oklahoma, and is highly sensitive to US production data.</a:t>
            </a:r>
            <a:endParaRPr sz="1200">
              <a:solidFill>
                <a:srgbClr val="0A0A0A"/>
              </a:solidFill>
              <a:latin typeface="Calibri"/>
              <a:ea typeface="Calibri"/>
              <a:cs typeface="Calibri"/>
              <a:sym typeface="Calibri"/>
            </a:endParaRPr>
          </a:p>
        </p:txBody>
      </p:sp>
      <p:sp>
        <p:nvSpPr>
          <p:cNvPr id="79" name="Google Shape;79;g3d26b78a17e_0_1"/>
          <p:cNvSpPr txBox="1"/>
          <p:nvPr/>
        </p:nvSpPr>
        <p:spPr>
          <a:xfrm>
            <a:off x="166800" y="439900"/>
            <a:ext cx="8572500" cy="173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200">
                <a:solidFill>
                  <a:schemeClr val="dk1"/>
                </a:solidFill>
                <a:latin typeface="Calibri"/>
                <a:ea typeface="Calibri"/>
                <a:cs typeface="Calibri"/>
                <a:sym typeface="Calibri"/>
              </a:rPr>
              <a:t>Problem Statement: </a:t>
            </a:r>
            <a:r>
              <a:rPr lang="en-US" sz="1200">
                <a:solidFill>
                  <a:srgbClr val="3C4043"/>
                </a:solidFill>
                <a:highlight>
                  <a:srgbClr val="F8F9FA"/>
                </a:highlight>
                <a:latin typeface="Calibri"/>
                <a:ea typeface="Calibri"/>
                <a:cs typeface="Calibri"/>
                <a:sym typeface="Calibri"/>
              </a:rPr>
              <a:t>A curated timeline of major geopolitical events affecting global oil markets, including wars, sanctions, supply disruptions, and OPEC policy decisions.</a:t>
            </a:r>
            <a:endParaRPr sz="1200">
              <a:solidFill>
                <a:srgbClr val="3C4043"/>
              </a:solidFill>
              <a:highlight>
                <a:srgbClr val="F8F9FA"/>
              </a:highlight>
              <a:latin typeface="Calibri"/>
              <a:ea typeface="Calibri"/>
              <a:cs typeface="Calibri"/>
              <a:sym typeface="Calibri"/>
            </a:endParaRPr>
          </a:p>
          <a:p>
            <a:pPr indent="0" lvl="0" marL="228600" marR="228600" rtl="0" algn="l">
              <a:lnSpc>
                <a:spcPct val="157142"/>
              </a:lnSpc>
              <a:spcBef>
                <a:spcPts val="1200"/>
              </a:spcBef>
              <a:spcAft>
                <a:spcPts val="0"/>
              </a:spcAft>
              <a:buClr>
                <a:schemeClr val="dk1"/>
              </a:buClr>
              <a:buSzPts val="1100"/>
              <a:buFont typeface="Arial"/>
              <a:buNone/>
            </a:pPr>
            <a:r>
              <a:t/>
            </a:r>
            <a:endParaRPr sz="1050">
              <a:solidFill>
                <a:srgbClr val="3C4043"/>
              </a:solidFill>
              <a:highlight>
                <a:srgbClr val="F8F9FA"/>
              </a:highlight>
            </a:endParaRPr>
          </a:p>
          <a:p>
            <a:pPr indent="0" lvl="0" marL="0" rtl="0" algn="l">
              <a:lnSpc>
                <a:spcPct val="115000"/>
              </a:lnSpc>
              <a:spcBef>
                <a:spcPts val="1800"/>
              </a:spcBef>
              <a:spcAft>
                <a:spcPts val="0"/>
              </a:spcAft>
              <a:buNone/>
            </a:pPr>
            <a:r>
              <a:t/>
            </a:r>
            <a:endParaRPr b="1" sz="1600">
              <a:solidFill>
                <a:schemeClr val="dk1"/>
              </a:solidFill>
              <a:latin typeface="Calibri"/>
              <a:ea typeface="Calibri"/>
              <a:cs typeface="Calibri"/>
              <a:sym typeface="Calibri"/>
            </a:endParaRPr>
          </a:p>
          <a:p>
            <a:pPr indent="0" lvl="0" marL="0" rtl="0" algn="l">
              <a:lnSpc>
                <a:spcPct val="115000"/>
              </a:lnSpc>
              <a:spcBef>
                <a:spcPts val="400"/>
              </a:spcBef>
              <a:spcAft>
                <a:spcPts val="0"/>
              </a:spcAft>
              <a:buNone/>
            </a:pPr>
            <a:r>
              <a:t/>
            </a:r>
            <a:endParaRPr sz="1000">
              <a:solidFill>
                <a:schemeClr val="dk1"/>
              </a:solidFill>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4" name="Shape 84"/>
        <p:cNvGrpSpPr/>
        <p:nvPr/>
      </p:nvGrpSpPr>
      <p:grpSpPr>
        <a:xfrm>
          <a:off x="0" y="0"/>
          <a:ext cx="0" cy="0"/>
          <a:chOff x="0" y="0"/>
          <a:chExt cx="0" cy="0"/>
        </a:xfrm>
      </p:grpSpPr>
      <p:sp>
        <p:nvSpPr>
          <p:cNvPr id="85" name="Google Shape;85;g3d26b78a17e_0_23"/>
          <p:cNvSpPr/>
          <p:nvPr/>
        </p:nvSpPr>
        <p:spPr>
          <a:xfrm>
            <a:off x="0" y="0"/>
            <a:ext cx="9144000" cy="476100"/>
          </a:xfrm>
          <a:prstGeom prst="rect">
            <a:avLst/>
          </a:prstGeom>
          <a:solidFill>
            <a:srgbClr val="073763"/>
          </a:solidFill>
          <a:ln cap="flat" cmpd="sng" w="12700">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26b78a17e_0_23"/>
          <p:cNvSpPr/>
          <p:nvPr/>
        </p:nvSpPr>
        <p:spPr>
          <a:xfrm>
            <a:off x="365750" y="91445"/>
            <a:ext cx="8229600" cy="28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Data Overview</a:t>
            </a:r>
            <a:endParaRPr b="0" i="0" sz="2600" u="none" cap="none" strike="noStrike">
              <a:solidFill>
                <a:schemeClr val="dk1"/>
              </a:solidFill>
              <a:latin typeface="Calibri"/>
              <a:ea typeface="Calibri"/>
              <a:cs typeface="Calibri"/>
              <a:sym typeface="Calibri"/>
            </a:endParaRPr>
          </a:p>
        </p:txBody>
      </p:sp>
      <p:sp>
        <p:nvSpPr>
          <p:cNvPr id="87" name="Google Shape;87;g3d26b78a17e_0_23"/>
          <p:cNvSpPr txBox="1"/>
          <p:nvPr/>
        </p:nvSpPr>
        <p:spPr>
          <a:xfrm>
            <a:off x="129750" y="772999"/>
            <a:ext cx="7896000" cy="532200"/>
          </a:xfrm>
          <a:prstGeom prst="rect">
            <a:avLst/>
          </a:prstGeom>
          <a:noFill/>
          <a:ln>
            <a:noFill/>
          </a:ln>
        </p:spPr>
        <p:txBody>
          <a:bodyPr anchorCtr="0" anchor="t" bIns="91425" lIns="91425" spcFirstLastPara="1" rIns="91425" wrap="square" tIns="91425">
            <a:spAutoFit/>
          </a:bodyPr>
          <a:lstStyle/>
          <a:p>
            <a:pPr indent="-295275" lvl="0" marL="457200" rtl="0" algn="l">
              <a:lnSpc>
                <a:spcPct val="115000"/>
              </a:lnSpc>
              <a:spcBef>
                <a:spcPts val="2400"/>
              </a:spcBef>
              <a:spcAft>
                <a:spcPts val="0"/>
              </a:spcAft>
              <a:buClr>
                <a:srgbClr val="3C4043"/>
              </a:buClr>
              <a:buSzPts val="1050"/>
              <a:buChar char="●"/>
            </a:pPr>
            <a:r>
              <a:rPr b="1" lang="en-US" sz="1050">
                <a:solidFill>
                  <a:srgbClr val="3C4043"/>
                </a:solidFill>
              </a:rPr>
              <a:t>oil_geopolitics_dataset_2010_2026.csv</a:t>
            </a:r>
            <a:r>
              <a:rPr lang="en-US" sz="1050">
                <a:solidFill>
                  <a:srgbClr val="3C4043"/>
                </a:solidFill>
              </a:rPr>
              <a:t> – Final merged dataset with engineered features and event annotations</a:t>
            </a:r>
            <a:endParaRPr sz="1050">
              <a:solidFill>
                <a:srgbClr val="3C4043"/>
              </a:solidFill>
            </a:endParaRPr>
          </a:p>
          <a:p>
            <a:pPr indent="-295275" lvl="0" marL="457200" rtl="0" algn="l">
              <a:lnSpc>
                <a:spcPct val="115000"/>
              </a:lnSpc>
              <a:spcBef>
                <a:spcPts val="0"/>
              </a:spcBef>
              <a:spcAft>
                <a:spcPts val="0"/>
              </a:spcAft>
              <a:buClr>
                <a:srgbClr val="3C4043"/>
              </a:buClr>
              <a:buSzPts val="1050"/>
              <a:buChar char="●"/>
            </a:pPr>
            <a:r>
              <a:rPr b="1" lang="en-US" sz="1050">
                <a:solidFill>
                  <a:srgbClr val="3C4043"/>
                </a:solidFill>
              </a:rPr>
              <a:t>geopolitical_events_timeline.csv</a:t>
            </a:r>
            <a:r>
              <a:rPr lang="en-US" sz="1050">
                <a:solidFill>
                  <a:srgbClr val="3C4043"/>
                </a:solidFill>
              </a:rPr>
              <a:t> – Timeline of major geopolitical events affecting global oil markets</a:t>
            </a:r>
            <a:endParaRPr sz="1050">
              <a:solidFill>
                <a:srgbClr val="3C4043"/>
              </a:solidFill>
            </a:endParaRPr>
          </a:p>
        </p:txBody>
      </p:sp>
      <p:sp>
        <p:nvSpPr>
          <p:cNvPr id="88" name="Google Shape;88;g3d26b78a17e_0_23"/>
          <p:cNvSpPr txBox="1"/>
          <p:nvPr/>
        </p:nvSpPr>
        <p:spPr>
          <a:xfrm>
            <a:off x="0" y="54257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Sources:</a:t>
            </a:r>
            <a:endParaRPr b="1" sz="1200"/>
          </a:p>
        </p:txBody>
      </p:sp>
      <p:sp>
        <p:nvSpPr>
          <p:cNvPr id="89" name="Google Shape;89;g3d26b78a17e_0_23"/>
          <p:cNvSpPr txBox="1"/>
          <p:nvPr/>
        </p:nvSpPr>
        <p:spPr>
          <a:xfrm>
            <a:off x="209450" y="2271400"/>
            <a:ext cx="34419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t/>
            </a:r>
            <a:endParaRPr b="1" sz="1200">
              <a:solidFill>
                <a:srgbClr val="202124"/>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Market Data</a:t>
            </a:r>
            <a:endParaRPr b="1"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lang="en-US" sz="1200">
                <a:solidFill>
                  <a:srgbClr val="3C4043"/>
                </a:solidFill>
                <a:latin typeface="Calibri"/>
                <a:ea typeface="Calibri"/>
                <a:cs typeface="Calibri"/>
                <a:sym typeface="Calibri"/>
              </a:rPr>
              <a:t>Brent crude oil price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WTI crude oil price</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Macroeconomic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U.S. Dollar Index (DXY)</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VIX volatility index</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Geopolitical Indicators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Geopolitical Risk Index (GPR)</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900"/>
              </a:spcAft>
              <a:buNone/>
            </a:pPr>
            <a:r>
              <a:t/>
            </a:r>
            <a:endParaRPr sz="1200">
              <a:solidFill>
                <a:srgbClr val="3C4043"/>
              </a:solidFill>
              <a:latin typeface="Calibri"/>
              <a:ea typeface="Calibri"/>
              <a:cs typeface="Calibri"/>
              <a:sym typeface="Calibri"/>
            </a:endParaRPr>
          </a:p>
        </p:txBody>
      </p:sp>
      <p:sp>
        <p:nvSpPr>
          <p:cNvPr id="90" name="Google Shape;90;g3d26b78a17e_0_23"/>
          <p:cNvSpPr txBox="1"/>
          <p:nvPr/>
        </p:nvSpPr>
        <p:spPr>
          <a:xfrm>
            <a:off x="115550" y="1305186"/>
            <a:ext cx="8479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latin typeface="Calibri"/>
                <a:ea typeface="Calibri"/>
                <a:cs typeface="Calibri"/>
                <a:sym typeface="Calibri"/>
              </a:rPr>
              <a:t>In addition to raw financial data, the dataset includes </a:t>
            </a:r>
            <a:r>
              <a:rPr b="1" lang="en-US" sz="1200">
                <a:latin typeface="Calibri"/>
                <a:ea typeface="Calibri"/>
                <a:cs typeface="Calibri"/>
                <a:sym typeface="Calibri"/>
              </a:rPr>
              <a:t>engineered features</a:t>
            </a:r>
            <a:r>
              <a:rPr lang="en-US" sz="1200">
                <a:latin typeface="Calibri"/>
                <a:ea typeface="Calibri"/>
                <a:cs typeface="Calibri"/>
                <a:sym typeface="Calibri"/>
              </a:rPr>
              <a:t> such as lagged prices, rolling volatility measures, and price spreads between Brent and WTI. A curated list of major geopolitical events—including wars, sanctions, supply disruptions, and OPEC policy changes—is also included, allowing researchers to analyze how geopolitical shocks affect oil markets.</a:t>
            </a:r>
            <a:endParaRPr sz="1200">
              <a:latin typeface="Calibri"/>
              <a:ea typeface="Calibri"/>
              <a:cs typeface="Calibri"/>
              <a:sym typeface="Calibri"/>
            </a:endParaRPr>
          </a:p>
        </p:txBody>
      </p:sp>
      <p:sp>
        <p:nvSpPr>
          <p:cNvPr id="91" name="Google Shape;91;g3d26b78a17e_0_23"/>
          <p:cNvSpPr txBox="1"/>
          <p:nvPr/>
        </p:nvSpPr>
        <p:spPr>
          <a:xfrm>
            <a:off x="4513300" y="2539325"/>
            <a:ext cx="3809100" cy="2447400"/>
          </a:xfrm>
          <a:prstGeom prst="rect">
            <a:avLst/>
          </a:prstGeom>
          <a:noFill/>
          <a:ln>
            <a:noFill/>
          </a:ln>
        </p:spPr>
        <p:txBody>
          <a:bodyPr anchorCtr="0" anchor="t" bIns="91425" lIns="91425" spcFirstLastPara="1" rIns="91425" wrap="square" tIns="91425">
            <a:noAutofit/>
          </a:bodyPr>
          <a:lstStyle/>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Engineered Features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Daily returns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Lagged prices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Rolling volatility measures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Brent–WTI spread</a:t>
            </a:r>
            <a:endParaRPr sz="1200">
              <a:solidFill>
                <a:srgbClr val="3C4043"/>
              </a:solidFill>
              <a:latin typeface="Calibri"/>
              <a:ea typeface="Calibri"/>
              <a:cs typeface="Calibri"/>
              <a:sym typeface="Calibri"/>
            </a:endParaRPr>
          </a:p>
          <a:p>
            <a:pPr indent="0" lvl="0" marL="0" rtl="0" algn="l">
              <a:lnSpc>
                <a:spcPct val="10000"/>
              </a:lnSpc>
              <a:spcBef>
                <a:spcPts val="1800"/>
              </a:spcBef>
              <a:spcAft>
                <a:spcPts val="0"/>
              </a:spcAft>
              <a:buNone/>
            </a:pPr>
            <a:r>
              <a:rPr b="1" lang="en-US" sz="1200">
                <a:solidFill>
                  <a:srgbClr val="3C4043"/>
                </a:solidFill>
                <a:latin typeface="Calibri"/>
                <a:ea typeface="Calibri"/>
                <a:cs typeface="Calibri"/>
                <a:sym typeface="Calibri"/>
              </a:rPr>
              <a:t>Event Annotations</a:t>
            </a:r>
            <a:endParaRPr b="1"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flag (indicating major geopolitical events)</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type</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0"/>
              </a:spcAft>
              <a:buClr>
                <a:srgbClr val="3C4043"/>
              </a:buClr>
              <a:buSzPts val="1200"/>
              <a:buFont typeface="Calibri"/>
              <a:buChar char="●"/>
            </a:pPr>
            <a:r>
              <a:rPr lang="en-US" sz="1200">
                <a:solidFill>
                  <a:srgbClr val="3C4043"/>
                </a:solidFill>
                <a:latin typeface="Calibri"/>
                <a:ea typeface="Calibri"/>
                <a:cs typeface="Calibri"/>
                <a:sym typeface="Calibri"/>
              </a:rPr>
              <a:t>Event description</a:t>
            </a:r>
            <a:endParaRPr sz="1200">
              <a:solidFill>
                <a:srgbClr val="3C4043"/>
              </a:solidFill>
              <a:latin typeface="Calibri"/>
              <a:ea typeface="Calibri"/>
              <a:cs typeface="Calibri"/>
              <a:sym typeface="Calibri"/>
            </a:endParaRPr>
          </a:p>
          <a:p>
            <a:pPr indent="-304800" lvl="0" marL="457200" rtl="0" algn="l">
              <a:lnSpc>
                <a:spcPct val="10000"/>
              </a:lnSpc>
              <a:spcBef>
                <a:spcPts val="1800"/>
              </a:spcBef>
              <a:spcAft>
                <a:spcPts val="900"/>
              </a:spcAft>
              <a:buClr>
                <a:srgbClr val="3C4043"/>
              </a:buClr>
              <a:buSzPts val="1200"/>
              <a:buFont typeface="Calibri"/>
              <a:buChar char="●"/>
            </a:pPr>
            <a:r>
              <a:rPr lang="en-US" sz="1200">
                <a:solidFill>
                  <a:srgbClr val="3C4043"/>
                </a:solidFill>
                <a:latin typeface="Calibri"/>
                <a:ea typeface="Calibri"/>
                <a:cs typeface="Calibri"/>
                <a:sym typeface="Calibri"/>
              </a:rPr>
              <a:t>Event severity score</a:t>
            </a:r>
            <a:endParaRPr/>
          </a:p>
        </p:txBody>
      </p:sp>
      <p:sp>
        <p:nvSpPr>
          <p:cNvPr id="92" name="Google Shape;92;g3d26b78a17e_0_23"/>
          <p:cNvSpPr txBox="1"/>
          <p:nvPr/>
        </p:nvSpPr>
        <p:spPr>
          <a:xfrm>
            <a:off x="115550" y="2044074"/>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Data Contents:</a:t>
            </a:r>
            <a:endParaRPr b="1"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7" name="Shape 97"/>
        <p:cNvGrpSpPr/>
        <p:nvPr/>
      </p:nvGrpSpPr>
      <p:grpSpPr>
        <a:xfrm>
          <a:off x="0" y="0"/>
          <a:ext cx="0" cy="0"/>
          <a:chOff x="0" y="0"/>
          <a:chExt cx="0" cy="0"/>
        </a:xfrm>
      </p:grpSpPr>
      <p:sp>
        <p:nvSpPr>
          <p:cNvPr id="98" name="Google Shape;98;g3d26b78a17e_0_62"/>
          <p:cNvSpPr/>
          <p:nvPr/>
        </p:nvSpPr>
        <p:spPr>
          <a:xfrm>
            <a:off x="0" y="0"/>
            <a:ext cx="9144000" cy="4077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 name="Google Shape;99;g3d26b78a17e_0_62"/>
          <p:cNvGrpSpPr/>
          <p:nvPr/>
        </p:nvGrpSpPr>
        <p:grpSpPr>
          <a:xfrm>
            <a:off x="112965" y="1057125"/>
            <a:ext cx="1463100" cy="1177800"/>
            <a:chOff x="85165" y="1270275"/>
            <a:chExt cx="1463100" cy="1177800"/>
          </a:xfrm>
        </p:grpSpPr>
        <p:sp>
          <p:nvSpPr>
            <p:cNvPr id="100" name="Google Shape;100;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01" name="Google Shape;101;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02" name="Google Shape;102;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chemeClr val="dk1"/>
                  </a:solidFill>
                  <a:latin typeface="Calibri"/>
                  <a:ea typeface="Calibri"/>
                  <a:cs typeface="Calibri"/>
                  <a:sym typeface="Calibri"/>
                </a:rPr>
                <a:t>CSV Files</a:t>
              </a:r>
              <a:endParaRPr b="0" i="0" sz="1200" u="none" cap="none" strike="noStrike">
                <a:solidFill>
                  <a:schemeClr val="dk1"/>
                </a:solidFill>
                <a:latin typeface="Calibri"/>
                <a:ea typeface="Calibri"/>
                <a:cs typeface="Calibri"/>
                <a:sym typeface="Calibri"/>
              </a:endParaRPr>
            </a:p>
          </p:txBody>
        </p:sp>
        <p:sp>
          <p:nvSpPr>
            <p:cNvPr id="103" name="Google Shape;103;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b="0" i="0" lang="en-US" sz="1200" u="none" cap="none" strike="noStrike">
                  <a:solidFill>
                    <a:schemeClr val="dk1"/>
                  </a:solidFill>
                  <a:latin typeface="Calibri"/>
                  <a:ea typeface="Calibri"/>
                  <a:cs typeface="Calibri"/>
                  <a:sym typeface="Calibri"/>
                </a:rPr>
                <a:t>Kaggle Dataset</a:t>
              </a:r>
              <a:endParaRPr b="0" i="0" sz="1200" u="none" cap="none" strike="noStrike">
                <a:solidFill>
                  <a:schemeClr val="dk1"/>
                </a:solidFill>
                <a:latin typeface="Calibri"/>
                <a:ea typeface="Calibri"/>
                <a:cs typeface="Calibri"/>
                <a:sym typeface="Calibri"/>
              </a:endParaRPr>
            </a:p>
          </p:txBody>
        </p:sp>
      </p:grpSp>
      <p:sp>
        <p:nvSpPr>
          <p:cNvPr id="104" name="Google Shape;104;g3d26b78a17e_0_62"/>
          <p:cNvSpPr/>
          <p:nvPr/>
        </p:nvSpPr>
        <p:spPr>
          <a:xfrm>
            <a:off x="1501350" y="1605450"/>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 name="Google Shape;105;g3d26b78a17e_0_62"/>
          <p:cNvGrpSpPr/>
          <p:nvPr/>
        </p:nvGrpSpPr>
        <p:grpSpPr>
          <a:xfrm>
            <a:off x="5509009" y="1057125"/>
            <a:ext cx="1463100" cy="1177800"/>
            <a:chOff x="85165" y="1270275"/>
            <a:chExt cx="1463100" cy="1177800"/>
          </a:xfrm>
        </p:grpSpPr>
        <p:sp>
          <p:nvSpPr>
            <p:cNvPr id="106" name="Google Shape;10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07" name="Google Shape;10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08" name="Google Shape;10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BigQuery</a:t>
              </a:r>
              <a:endParaRPr b="1" i="0" sz="1200" u="none" cap="none" strike="noStrike">
                <a:solidFill>
                  <a:schemeClr val="dk1"/>
                </a:solidFill>
                <a:latin typeface="Calibri"/>
                <a:ea typeface="Calibri"/>
                <a:cs typeface="Calibri"/>
                <a:sym typeface="Calibri"/>
              </a:endParaRPr>
            </a:p>
          </p:txBody>
        </p:sp>
        <p:sp>
          <p:nvSpPr>
            <p:cNvPr id="109" name="Google Shape;109;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Data Warehouse</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raw + dw schemas</a:t>
              </a:r>
              <a:endParaRPr sz="1200">
                <a:solidFill>
                  <a:schemeClr val="dk1"/>
                </a:solidFill>
                <a:latin typeface="Calibri"/>
                <a:ea typeface="Calibri"/>
                <a:cs typeface="Calibri"/>
                <a:sym typeface="Calibri"/>
              </a:endParaRPr>
            </a:p>
          </p:txBody>
        </p:sp>
      </p:grpSp>
      <p:grpSp>
        <p:nvGrpSpPr>
          <p:cNvPr id="110" name="Google Shape;110;g3d26b78a17e_0_62"/>
          <p:cNvGrpSpPr/>
          <p:nvPr/>
        </p:nvGrpSpPr>
        <p:grpSpPr>
          <a:xfrm>
            <a:off x="7307690" y="1057125"/>
            <a:ext cx="1463100" cy="1177800"/>
            <a:chOff x="85165" y="1270275"/>
            <a:chExt cx="1463100" cy="1177800"/>
          </a:xfrm>
        </p:grpSpPr>
        <p:sp>
          <p:nvSpPr>
            <p:cNvPr id="111" name="Google Shape;111;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2" name="Google Shape;112;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3" name="Google Shape;113;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dbt</a:t>
              </a:r>
              <a:endParaRPr b="0" i="0" sz="1200" u="none" cap="none" strike="noStrike">
                <a:solidFill>
                  <a:schemeClr val="dk1"/>
                </a:solidFill>
                <a:latin typeface="Calibri"/>
                <a:ea typeface="Calibri"/>
                <a:cs typeface="Calibri"/>
                <a:sym typeface="Calibri"/>
              </a:endParaRPr>
            </a:p>
          </p:txBody>
        </p:sp>
        <p:sp>
          <p:nvSpPr>
            <p:cNvPr id="114" name="Google Shape;114;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Transform</a:t>
              </a:r>
              <a:endParaRPr sz="950">
                <a:solidFill>
                  <a:schemeClr val="dk1"/>
                </a:solidFill>
                <a:latin typeface="Calibri"/>
                <a:ea typeface="Calibri"/>
                <a:cs typeface="Calibri"/>
                <a:sym typeface="Calibri"/>
              </a:endParaRPr>
            </a:p>
            <a:p>
              <a:pPr indent="0" lvl="0" marL="0" rtl="0" algn="ctr">
                <a:spcBef>
                  <a:spcPts val="0"/>
                </a:spcBef>
                <a:spcAft>
                  <a:spcPts val="0"/>
                </a:spcAft>
                <a:buClr>
                  <a:schemeClr val="lt1"/>
                </a:buClr>
                <a:buSzPts val="950"/>
                <a:buFont typeface="Calibri"/>
                <a:buNone/>
              </a:pPr>
              <a:r>
                <a:rPr lang="en-US" sz="950">
                  <a:solidFill>
                    <a:schemeClr val="dk1"/>
                  </a:solidFill>
                  <a:latin typeface="Calibri"/>
                  <a:ea typeface="Calibri"/>
                  <a:cs typeface="Calibri"/>
                  <a:sym typeface="Calibri"/>
                </a:rPr>
                <a:t>Star Schema + Tests</a:t>
              </a:r>
              <a:endParaRPr sz="1200">
                <a:solidFill>
                  <a:schemeClr val="dk1"/>
                </a:solidFill>
                <a:latin typeface="Calibri"/>
                <a:ea typeface="Calibri"/>
                <a:cs typeface="Calibri"/>
                <a:sym typeface="Calibri"/>
              </a:endParaRPr>
            </a:p>
          </p:txBody>
        </p:sp>
      </p:grpSp>
      <p:grpSp>
        <p:nvGrpSpPr>
          <p:cNvPr id="115" name="Google Shape;115;g3d26b78a17e_0_62"/>
          <p:cNvGrpSpPr/>
          <p:nvPr/>
        </p:nvGrpSpPr>
        <p:grpSpPr>
          <a:xfrm>
            <a:off x="3710328" y="1057125"/>
            <a:ext cx="1463100" cy="1177800"/>
            <a:chOff x="85165" y="1270275"/>
            <a:chExt cx="1463100" cy="1177800"/>
          </a:xfrm>
        </p:grpSpPr>
        <p:sp>
          <p:nvSpPr>
            <p:cNvPr id="116" name="Google Shape;11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7" name="Google Shape;11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18" name="Google Shape;11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Meltano</a:t>
              </a:r>
              <a:endParaRPr b="1" sz="1200">
                <a:solidFill>
                  <a:schemeClr val="dk1"/>
                </a:solidFill>
                <a:latin typeface="Calibri"/>
                <a:ea typeface="Calibri"/>
                <a:cs typeface="Calibri"/>
                <a:sym typeface="Calibri"/>
              </a:endParaRPr>
            </a:p>
          </p:txBody>
        </p:sp>
        <p:sp>
          <p:nvSpPr>
            <p:cNvPr id="119" name="Google Shape;119;g3d26b78a17e_0_62"/>
            <p:cNvSpPr/>
            <p:nvPr/>
          </p:nvSpPr>
          <p:spPr>
            <a:xfrm>
              <a:off x="85165" y="1697303"/>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Extract &amp; Load</a:t>
              </a:r>
              <a:endParaRPr sz="95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950">
                  <a:solidFill>
                    <a:schemeClr val="dk1"/>
                  </a:solidFill>
                  <a:latin typeface="Calibri"/>
                  <a:ea typeface="Calibri"/>
                  <a:cs typeface="Calibri"/>
                  <a:sym typeface="Calibri"/>
                </a:rPr>
                <a:t>tap-duckdb → target-bq</a:t>
              </a:r>
              <a:endParaRPr b="1" sz="1200">
                <a:solidFill>
                  <a:schemeClr val="dk1"/>
                </a:solidFill>
                <a:latin typeface="Calibri"/>
                <a:ea typeface="Calibri"/>
                <a:cs typeface="Calibri"/>
                <a:sym typeface="Calibri"/>
              </a:endParaRPr>
            </a:p>
          </p:txBody>
        </p:sp>
      </p:grpSp>
      <p:sp>
        <p:nvSpPr>
          <p:cNvPr id="120" name="Google Shape;120;g3d26b78a17e_0_62"/>
          <p:cNvSpPr/>
          <p:nvPr/>
        </p:nvSpPr>
        <p:spPr>
          <a:xfrm>
            <a:off x="3306232" y="1620375"/>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d26b78a17e_0_62"/>
          <p:cNvSpPr/>
          <p:nvPr/>
        </p:nvSpPr>
        <p:spPr>
          <a:xfrm>
            <a:off x="5111125" y="1631100"/>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d26b78a17e_0_62"/>
          <p:cNvSpPr/>
          <p:nvPr/>
        </p:nvSpPr>
        <p:spPr>
          <a:xfrm>
            <a:off x="6916495" y="1605450"/>
            <a:ext cx="460200" cy="51300"/>
          </a:xfrm>
          <a:prstGeom prst="rect">
            <a:avLst/>
          </a:prstGeom>
          <a:solidFill>
            <a:srgbClr val="1C4587"/>
          </a:solidFill>
          <a:ln cap="flat" cmpd="sng" w="12700">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d26b78a17e_0_62"/>
          <p:cNvSpPr/>
          <p:nvPr/>
        </p:nvSpPr>
        <p:spPr>
          <a:xfrm>
            <a:off x="1097250" y="2606295"/>
            <a:ext cx="6949500" cy="294600"/>
          </a:xfrm>
          <a:prstGeom prst="rect">
            <a:avLst/>
          </a:prstGeom>
          <a:solidFill>
            <a:srgbClr val="E2E8F0"/>
          </a:solidFill>
          <a:ln>
            <a:noFill/>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24" name="Google Shape;124;g3d26b78a17e_0_62"/>
          <p:cNvSpPr/>
          <p:nvPr/>
        </p:nvSpPr>
        <p:spPr>
          <a:xfrm>
            <a:off x="1188690" y="2628966"/>
            <a:ext cx="6766500" cy="249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0A500"/>
              </a:buClr>
              <a:buSzPts val="1100"/>
              <a:buFont typeface="Calibri"/>
              <a:buNone/>
            </a:pPr>
            <a:r>
              <a:rPr b="1" i="0" lang="en-US" sz="1200" u="none" cap="none" strike="noStrike">
                <a:solidFill>
                  <a:schemeClr val="dk1"/>
                </a:solidFill>
                <a:latin typeface="Calibri"/>
                <a:ea typeface="Calibri"/>
                <a:cs typeface="Calibri"/>
                <a:sym typeface="Calibri"/>
              </a:rPr>
              <a:t>Dagster Orchestration — schedules, monitors, and logs all pipeline stages</a:t>
            </a:r>
            <a:endParaRPr b="0" i="0" sz="1200" u="none" cap="none" strike="noStrike">
              <a:solidFill>
                <a:schemeClr val="dk1"/>
              </a:solidFill>
              <a:latin typeface="Calibri"/>
              <a:ea typeface="Calibri"/>
              <a:cs typeface="Calibri"/>
              <a:sym typeface="Calibri"/>
            </a:endParaRPr>
          </a:p>
        </p:txBody>
      </p:sp>
      <p:grpSp>
        <p:nvGrpSpPr>
          <p:cNvPr id="125" name="Google Shape;125;g3d26b78a17e_0_62"/>
          <p:cNvGrpSpPr/>
          <p:nvPr/>
        </p:nvGrpSpPr>
        <p:grpSpPr>
          <a:xfrm>
            <a:off x="1911646" y="1057125"/>
            <a:ext cx="1463100" cy="1177800"/>
            <a:chOff x="85165" y="1270275"/>
            <a:chExt cx="1463100" cy="1177800"/>
          </a:xfrm>
        </p:grpSpPr>
        <p:sp>
          <p:nvSpPr>
            <p:cNvPr id="126" name="Google Shape;126;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7" name="Google Shape;127;g3d26b78a17e_0_62"/>
            <p:cNvSpPr/>
            <p:nvPr/>
          </p:nvSpPr>
          <p:spPr>
            <a:xfrm>
              <a:off x="160025" y="1270275"/>
              <a:ext cx="1313400" cy="36300"/>
            </a:xfrm>
            <a:prstGeom prst="rect">
              <a:avLst/>
            </a:prstGeom>
            <a:solidFill>
              <a:srgbClr val="F0A500"/>
            </a:solidFill>
            <a:ln cap="flat" cmpd="sng" w="6275">
              <a:solidFill>
                <a:srgbClr val="F0A500"/>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28" name="Google Shape;128;g3d26b78a17e_0_62"/>
            <p:cNvSpPr/>
            <p:nvPr/>
          </p:nvSpPr>
          <p:spPr>
            <a:xfrm>
              <a:off x="85165" y="1464117"/>
              <a:ext cx="1463100" cy="365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1200"/>
                <a:buFont typeface="Calibri"/>
                <a:buNone/>
              </a:pPr>
              <a:r>
                <a:rPr b="1" lang="en-US" sz="1200">
                  <a:solidFill>
                    <a:schemeClr val="dk1"/>
                  </a:solidFill>
                  <a:latin typeface="Calibri"/>
                  <a:ea typeface="Calibri"/>
                  <a:cs typeface="Calibri"/>
                  <a:sym typeface="Calibri"/>
                </a:rPr>
                <a:t>DuckDB</a:t>
              </a:r>
              <a:endParaRPr sz="1200">
                <a:solidFill>
                  <a:schemeClr val="dk1"/>
                </a:solidFill>
                <a:latin typeface="Calibri"/>
                <a:ea typeface="Calibri"/>
                <a:cs typeface="Calibri"/>
                <a:sym typeface="Calibri"/>
              </a:endParaRPr>
            </a:p>
          </p:txBody>
        </p:sp>
        <p:sp>
          <p:nvSpPr>
            <p:cNvPr id="129" name="Google Shape;129;g3d26b78a17e_0_62"/>
            <p:cNvSpPr/>
            <p:nvPr/>
          </p:nvSpPr>
          <p:spPr>
            <a:xfrm>
              <a:off x="85165" y="1611315"/>
              <a:ext cx="1463100" cy="731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Local Staging</a:t>
              </a:r>
              <a:endParaRPr sz="1200">
                <a:solidFill>
                  <a:schemeClr val="dk1"/>
                </a:solidFill>
                <a:latin typeface="Calibri"/>
                <a:ea typeface="Calibri"/>
                <a:cs typeface="Calibri"/>
                <a:sym typeface="Calibri"/>
              </a:endParaRPr>
            </a:p>
            <a:p>
              <a:pPr indent="0" lvl="0" marL="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&amp; Validation</a:t>
              </a:r>
              <a:endParaRPr sz="1200">
                <a:solidFill>
                  <a:schemeClr val="dk1"/>
                </a:solidFill>
                <a:latin typeface="Calibri"/>
                <a:ea typeface="Calibri"/>
                <a:cs typeface="Calibri"/>
                <a:sym typeface="Calibri"/>
              </a:endParaRPr>
            </a:p>
          </p:txBody>
        </p:sp>
      </p:grpSp>
      <p:sp>
        <p:nvSpPr>
          <p:cNvPr id="130" name="Google Shape;130;g3d26b78a17e_0_62"/>
          <p:cNvSpPr/>
          <p:nvPr/>
        </p:nvSpPr>
        <p:spPr>
          <a:xfrm>
            <a:off x="172700" y="-18903"/>
            <a:ext cx="8229600" cy="44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300" u="none" cap="none" strike="noStrike">
                <a:solidFill>
                  <a:schemeClr val="lt1"/>
                </a:solidFill>
                <a:latin typeface="Calibri"/>
                <a:ea typeface="Calibri"/>
                <a:cs typeface="Calibri"/>
                <a:sym typeface="Calibri"/>
              </a:rPr>
              <a:t>Solution Architecture</a:t>
            </a:r>
            <a:endParaRPr b="1" i="0" sz="2300" u="none" cap="none" strike="noStrike">
              <a:solidFill>
                <a:schemeClr val="lt1"/>
              </a:solidFill>
              <a:latin typeface="Calibri"/>
              <a:ea typeface="Calibri"/>
              <a:cs typeface="Calibri"/>
              <a:sym typeface="Calibri"/>
            </a:endParaRPr>
          </a:p>
        </p:txBody>
      </p:sp>
      <p:grpSp>
        <p:nvGrpSpPr>
          <p:cNvPr id="131" name="Google Shape;131;g3d26b78a17e_0_62"/>
          <p:cNvGrpSpPr/>
          <p:nvPr/>
        </p:nvGrpSpPr>
        <p:grpSpPr>
          <a:xfrm>
            <a:off x="4037298" y="3424475"/>
            <a:ext cx="3716090" cy="1177800"/>
            <a:chOff x="134149" y="1270275"/>
            <a:chExt cx="1339276" cy="1177800"/>
          </a:xfrm>
        </p:grpSpPr>
        <p:sp>
          <p:nvSpPr>
            <p:cNvPr id="132" name="Google Shape;132;g3d26b78a17e_0_62"/>
            <p:cNvSpPr/>
            <p:nvPr/>
          </p:nvSpPr>
          <p:spPr>
            <a:xfrm>
              <a:off x="160025" y="1270275"/>
              <a:ext cx="1313400" cy="1177800"/>
            </a:xfrm>
            <a:prstGeom prst="rect">
              <a:avLst/>
            </a:prstGeom>
            <a:solidFill>
              <a:srgbClr val="FFFFFF"/>
            </a:solidFill>
            <a:ln cap="flat" cmpd="sng" w="6275">
              <a:solidFill>
                <a:srgbClr val="E2E8F0"/>
              </a:solidFill>
              <a:prstDash val="solid"/>
              <a:round/>
              <a:headEnd len="sm" w="sm" type="none"/>
              <a:tailEnd len="sm" w="sm" type="none"/>
            </a:ln>
            <a:effectLst>
              <a:outerShdw blurRad="50326" rotWithShape="0" algn="bl" dir="8100000" dist="18872">
                <a:srgbClr val="000000">
                  <a:alpha val="12160"/>
                </a:srgbClr>
              </a:outerShdw>
            </a:effectLst>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sp>
          <p:nvSpPr>
            <p:cNvPr id="133" name="Google Shape;133;g3d26b78a17e_0_62"/>
            <p:cNvSpPr/>
            <p:nvPr/>
          </p:nvSpPr>
          <p:spPr>
            <a:xfrm>
              <a:off x="134149" y="1270275"/>
              <a:ext cx="1313400" cy="36300"/>
            </a:xfrm>
            <a:prstGeom prst="rect">
              <a:avLst/>
            </a:prstGeom>
            <a:solidFill>
              <a:srgbClr val="1C4587"/>
            </a:solidFill>
            <a:ln cap="flat" cmpd="sng" w="6275">
              <a:solidFill>
                <a:srgbClr val="1C4587"/>
              </a:solidFill>
              <a:prstDash val="solid"/>
              <a:round/>
              <a:headEnd len="sm" w="sm" type="none"/>
              <a:tailEnd len="sm" w="sm" type="none"/>
            </a:ln>
          </p:spPr>
          <p:txBody>
            <a:bodyPr anchorCtr="0" anchor="ctr" bIns="45275" lIns="45275" spcFirstLastPara="1" rIns="45275" wrap="square" tIns="45275">
              <a:noAutofit/>
            </a:bodyPr>
            <a:lstStyle/>
            <a:p>
              <a:pPr indent="0" lvl="0" marL="0" rtl="0" algn="l">
                <a:spcBef>
                  <a:spcPts val="0"/>
                </a:spcBef>
                <a:spcAft>
                  <a:spcPts val="0"/>
                </a:spcAft>
                <a:buNone/>
              </a:pPr>
              <a:r>
                <a:t/>
              </a:r>
              <a:endParaRPr sz="693">
                <a:latin typeface="Calibri"/>
                <a:ea typeface="Calibri"/>
                <a:cs typeface="Calibri"/>
                <a:sym typeface="Calibri"/>
              </a:endParaRPr>
            </a:p>
          </p:txBody>
        </p:sp>
      </p:grpSp>
      <p:sp>
        <p:nvSpPr>
          <p:cNvPr id="134" name="Google Shape;134;g3d26b78a17e_0_62"/>
          <p:cNvSpPr/>
          <p:nvPr/>
        </p:nvSpPr>
        <p:spPr>
          <a:xfrm>
            <a:off x="5696690" y="3703517"/>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lang="en-US" sz="1200">
                <a:solidFill>
                  <a:schemeClr val="dk1"/>
                </a:solidFill>
                <a:latin typeface="Calibri"/>
                <a:ea typeface="Calibri"/>
                <a:cs typeface="Calibri"/>
                <a:sym typeface="Calibri"/>
              </a:rPr>
              <a:t>Jupyter</a:t>
            </a:r>
            <a:endParaRPr b="1" sz="1200">
              <a:solidFill>
                <a:schemeClr val="dk1"/>
              </a:solidFill>
              <a:latin typeface="Calibri"/>
              <a:ea typeface="Calibri"/>
              <a:cs typeface="Calibri"/>
              <a:sym typeface="Calibri"/>
            </a:endParaRPr>
          </a:p>
        </p:txBody>
      </p:sp>
      <p:sp>
        <p:nvSpPr>
          <p:cNvPr id="135" name="Google Shape;135;g3d26b78a17e_0_62"/>
          <p:cNvSpPr/>
          <p:nvPr/>
        </p:nvSpPr>
        <p:spPr>
          <a:xfrm>
            <a:off x="5725664" y="3715001"/>
            <a:ext cx="1739700" cy="731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950"/>
              <a:buFont typeface="Calibri"/>
              <a:buNone/>
            </a:pPr>
            <a:r>
              <a:rPr lang="en-US" sz="1200">
                <a:solidFill>
                  <a:schemeClr val="dk1"/>
                </a:solidFill>
                <a:latin typeface="Calibri"/>
                <a:ea typeface="Calibri"/>
                <a:cs typeface="Calibri"/>
                <a:sym typeface="Calibri"/>
              </a:rPr>
              <a:t>Reporting and Analysis</a:t>
            </a:r>
            <a:endParaRPr b="0" i="0" sz="1200" u="none" cap="none" strike="noStrike">
              <a:solidFill>
                <a:schemeClr val="dk1"/>
              </a:solidFill>
              <a:latin typeface="Calibri"/>
              <a:ea typeface="Calibri"/>
              <a:cs typeface="Calibri"/>
              <a:sym typeface="Calibri"/>
            </a:endParaRPr>
          </a:p>
        </p:txBody>
      </p:sp>
      <p:sp>
        <p:nvSpPr>
          <p:cNvPr id="136" name="Google Shape;136;g3d26b78a17e_0_62"/>
          <p:cNvSpPr txBox="1"/>
          <p:nvPr/>
        </p:nvSpPr>
        <p:spPr>
          <a:xfrm>
            <a:off x="2041962" y="1956876"/>
            <a:ext cx="16530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rPr>
              <a:t>(local SQL engine)</a:t>
            </a:r>
            <a:endParaRPr sz="1000">
              <a:solidFill>
                <a:schemeClr val="dk1"/>
              </a:solidFill>
              <a:highlight>
                <a:srgbClr val="FFFFFF"/>
              </a:highlight>
            </a:endParaRPr>
          </a:p>
        </p:txBody>
      </p:sp>
      <p:sp>
        <p:nvSpPr>
          <p:cNvPr id="137" name="Google Shape;137;g3d26b78a17e_0_62"/>
          <p:cNvSpPr txBox="1"/>
          <p:nvPr/>
        </p:nvSpPr>
        <p:spPr>
          <a:xfrm>
            <a:off x="3728303" y="1969647"/>
            <a:ext cx="1463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000">
                <a:solidFill>
                  <a:schemeClr val="dk1"/>
                </a:solidFill>
                <a:highlight>
                  <a:srgbClr val="FFFFFF"/>
                </a:highlight>
                <a:latin typeface="Calibri"/>
                <a:ea typeface="Calibri"/>
                <a:cs typeface="Calibri"/>
                <a:sym typeface="Calibri"/>
              </a:rPr>
              <a:t>(Singer JSON messages)</a:t>
            </a:r>
            <a:endParaRPr sz="1000">
              <a:latin typeface="Calibri"/>
              <a:ea typeface="Calibri"/>
              <a:cs typeface="Calibri"/>
              <a:sym typeface="Calibri"/>
            </a:endParaRPr>
          </a:p>
        </p:txBody>
      </p:sp>
      <p:sp>
        <p:nvSpPr>
          <p:cNvPr id="138" name="Google Shape;138;g3d26b78a17e_0_62"/>
          <p:cNvSpPr txBox="1"/>
          <p:nvPr/>
        </p:nvSpPr>
        <p:spPr>
          <a:xfrm>
            <a:off x="1457325" y="1266750"/>
            <a:ext cx="832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900">
                <a:solidFill>
                  <a:schemeClr val="dk1"/>
                </a:solidFill>
                <a:latin typeface="Calibri"/>
                <a:ea typeface="Calibri"/>
                <a:cs typeface="Calibri"/>
                <a:sym typeface="Calibri"/>
              </a:rPr>
              <a:t>File Read</a:t>
            </a:r>
            <a:endParaRPr sz="900">
              <a:solidFill>
                <a:schemeClr val="dk1"/>
              </a:solidFill>
              <a:latin typeface="Calibri"/>
              <a:ea typeface="Calibri"/>
              <a:cs typeface="Calibri"/>
              <a:sym typeface="Calibri"/>
            </a:endParaRPr>
          </a:p>
        </p:txBody>
      </p:sp>
      <p:sp>
        <p:nvSpPr>
          <p:cNvPr id="139" name="Google Shape;139;g3d26b78a17e_0_62"/>
          <p:cNvSpPr txBox="1"/>
          <p:nvPr/>
        </p:nvSpPr>
        <p:spPr>
          <a:xfrm>
            <a:off x="3222875" y="1170150"/>
            <a:ext cx="573300" cy="41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US" sz="700">
                <a:solidFill>
                  <a:schemeClr val="dk1"/>
                </a:solidFill>
                <a:latin typeface="Calibri"/>
                <a:ea typeface="Calibri"/>
                <a:cs typeface="Calibri"/>
                <a:sym typeface="Calibri"/>
              </a:rPr>
              <a:t>JSON Via Unix Pipe</a:t>
            </a:r>
            <a:endParaRPr sz="700">
              <a:solidFill>
                <a:schemeClr val="dk1"/>
              </a:solidFill>
              <a:latin typeface="Calibri"/>
              <a:ea typeface="Calibri"/>
              <a:cs typeface="Calibri"/>
              <a:sym typeface="Calibri"/>
            </a:endParaRPr>
          </a:p>
        </p:txBody>
      </p:sp>
      <p:sp>
        <p:nvSpPr>
          <p:cNvPr id="140" name="Google Shape;140;g3d26b78a17e_0_62"/>
          <p:cNvSpPr txBox="1"/>
          <p:nvPr/>
        </p:nvSpPr>
        <p:spPr>
          <a:xfrm>
            <a:off x="5069688" y="1121875"/>
            <a:ext cx="573300" cy="540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US" sz="700">
                <a:solidFill>
                  <a:schemeClr val="dk1"/>
                </a:solidFill>
                <a:latin typeface="Calibri"/>
                <a:ea typeface="Calibri"/>
                <a:cs typeface="Calibri"/>
                <a:sym typeface="Calibri"/>
              </a:rPr>
              <a:t>API via gPRC + ADC</a:t>
            </a:r>
            <a:endParaRPr sz="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45" name="Shape 145"/>
        <p:cNvGrpSpPr/>
        <p:nvPr/>
      </p:nvGrpSpPr>
      <p:grpSpPr>
        <a:xfrm>
          <a:off x="0" y="0"/>
          <a:ext cx="0" cy="0"/>
          <a:chOff x="0" y="0"/>
          <a:chExt cx="0" cy="0"/>
        </a:xfrm>
      </p:grpSpPr>
      <p:sp>
        <p:nvSpPr>
          <p:cNvPr id="146" name="Google Shape;146;p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148" name="Google Shape;148;p2"/>
          <p:cNvSpPr txBox="1"/>
          <p:nvPr/>
        </p:nvSpPr>
        <p:spPr>
          <a:xfrm>
            <a:off x="0" y="556625"/>
            <a:ext cx="8877300" cy="60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100">
                <a:solidFill>
                  <a:schemeClr val="dk1"/>
                </a:solidFill>
                <a:latin typeface="Roboto"/>
                <a:ea typeface="Roboto"/>
                <a:cs typeface="Roboto"/>
                <a:sym typeface="Roboto"/>
              </a:rPr>
              <a:t>Finding 1: Oil Prices Are Highly Volatile and Event-Driven</a:t>
            </a:r>
            <a:endParaRPr b="1" sz="1100">
              <a:solidFill>
                <a:schemeClr val="dk1"/>
              </a:solidFill>
              <a:latin typeface="Roboto"/>
              <a:ea typeface="Roboto"/>
              <a:cs typeface="Roboto"/>
              <a:sym typeface="Roboto"/>
            </a:endParaRPr>
          </a:p>
          <a:p>
            <a:pPr indent="0" lvl="0" marL="0" rtl="0" algn="l">
              <a:lnSpc>
                <a:spcPct val="115000"/>
              </a:lnSpc>
              <a:spcBef>
                <a:spcPts val="400"/>
              </a:spcBef>
              <a:spcAft>
                <a:spcPts val="200"/>
              </a:spcAft>
              <a:buNone/>
            </a:pPr>
            <a:r>
              <a:rPr lang="en-US" sz="1100">
                <a:solidFill>
                  <a:schemeClr val="dk1"/>
                </a:solidFill>
                <a:latin typeface="Roboto"/>
                <a:ea typeface="Roboto"/>
                <a:cs typeface="Roboto"/>
                <a:sym typeface="Roboto"/>
              </a:rPr>
              <a:t>Brent crude ranged from approximately </a:t>
            </a:r>
            <a:r>
              <a:rPr b="1" lang="en-US" sz="1100">
                <a:solidFill>
                  <a:schemeClr val="dk1"/>
                </a:solidFill>
                <a:latin typeface="Roboto"/>
                <a:ea typeface="Roboto"/>
                <a:cs typeface="Roboto"/>
                <a:sym typeface="Roboto"/>
              </a:rPr>
              <a:t>$20 to $130 per barrel</a:t>
            </a:r>
            <a:r>
              <a:rPr lang="en-US" sz="1100">
                <a:solidFill>
                  <a:schemeClr val="dk1"/>
                </a:solidFill>
                <a:latin typeface="Roboto"/>
                <a:ea typeface="Roboto"/>
                <a:cs typeface="Roboto"/>
                <a:sym typeface="Roboto"/>
              </a:rPr>
              <a:t> over the period, with three major collapse-and-recovery cycles:</a:t>
            </a:r>
            <a:endParaRPr sz="1100">
              <a:solidFill>
                <a:schemeClr val="dk1"/>
              </a:solidFill>
              <a:latin typeface="Roboto"/>
              <a:ea typeface="Roboto"/>
              <a:cs typeface="Roboto"/>
              <a:sym typeface="Roboto"/>
            </a:endParaRPr>
          </a:p>
        </p:txBody>
      </p:sp>
      <p:pic>
        <p:nvPicPr>
          <p:cNvPr id="149" name="Google Shape;149;p2"/>
          <p:cNvPicPr preferRelativeResize="0"/>
          <p:nvPr/>
        </p:nvPicPr>
        <p:blipFill>
          <a:blip r:embed="rId3">
            <a:alphaModFix/>
          </a:blip>
          <a:stretch>
            <a:fillRect/>
          </a:stretch>
        </p:blipFill>
        <p:spPr>
          <a:xfrm>
            <a:off x="86600" y="1073588"/>
            <a:ext cx="8531350" cy="2167725"/>
          </a:xfrm>
          <a:prstGeom prst="rect">
            <a:avLst/>
          </a:prstGeom>
          <a:noFill/>
          <a:ln>
            <a:noFill/>
          </a:ln>
        </p:spPr>
      </p:pic>
      <p:sp>
        <p:nvSpPr>
          <p:cNvPr id="150" name="Google Shape;150;p2"/>
          <p:cNvSpPr txBox="1"/>
          <p:nvPr/>
        </p:nvSpPr>
        <p:spPr>
          <a:xfrm>
            <a:off x="86600" y="3601083"/>
            <a:ext cx="95271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t>Summary: </a:t>
            </a:r>
            <a:endParaRPr sz="1100"/>
          </a:p>
          <a:p>
            <a:pPr indent="-298450" lvl="0" marL="457200" rtl="0" algn="l">
              <a:spcBef>
                <a:spcPts val="0"/>
              </a:spcBef>
              <a:spcAft>
                <a:spcPts val="0"/>
              </a:spcAft>
              <a:buSzPts val="1100"/>
              <a:buChar char="●"/>
            </a:pPr>
            <a:r>
              <a:rPr lang="en-US" sz="1100"/>
              <a:t>2014–2016: OPEC supply glut + US shale boom- Brent fell ~70% from $115 to $30</a:t>
            </a:r>
            <a:endParaRPr sz="1100"/>
          </a:p>
          <a:p>
            <a:pPr indent="-298450" lvl="0" marL="457200" rtl="0" algn="l">
              <a:spcBef>
                <a:spcPts val="0"/>
              </a:spcBef>
              <a:spcAft>
                <a:spcPts val="0"/>
              </a:spcAft>
              <a:buSzPts val="1100"/>
              <a:buChar char="●"/>
            </a:pPr>
            <a:r>
              <a:rPr lang="en-US" sz="1100"/>
              <a:t>2020: COVID-19 demand collapse + Russia-Saudi price war- WTI briefly went negative; Brent fell to ~$20</a:t>
            </a:r>
            <a:endParaRPr sz="1100"/>
          </a:p>
          <a:p>
            <a:pPr indent="-298450" lvl="0" marL="457200" rtl="0" algn="l">
              <a:spcBef>
                <a:spcPts val="0"/>
              </a:spcBef>
              <a:spcAft>
                <a:spcPts val="0"/>
              </a:spcAft>
              <a:buSzPts val="1100"/>
              <a:buChar char="●"/>
            </a:pPr>
            <a:r>
              <a:rPr lang="en-US" sz="1100"/>
              <a:t>2022: Russia-Ukraine war- Brent spiked to ~$130</a:t>
            </a:r>
            <a:endParaRPr sz="1100"/>
          </a:p>
          <a:p>
            <a:pPr indent="-298450" lvl="0" marL="457200" rtl="0" algn="l">
              <a:spcBef>
                <a:spcPts val="0"/>
              </a:spcBef>
              <a:spcAft>
                <a:spcPts val="0"/>
              </a:spcAft>
              <a:buSzPts val="1100"/>
              <a:buChar char="●"/>
            </a:pPr>
            <a:r>
              <a:rPr lang="en-US" sz="1100"/>
              <a:t>2026: </a:t>
            </a:r>
            <a:endParaRPr sz="1100"/>
          </a:p>
        </p:txBody>
      </p:sp>
      <p:sp>
        <p:nvSpPr>
          <p:cNvPr id="151" name="Google Shape;151;p2"/>
          <p:cNvSpPr txBox="1"/>
          <p:nvPr/>
        </p:nvSpPr>
        <p:spPr>
          <a:xfrm>
            <a:off x="151275" y="4546015"/>
            <a:ext cx="8877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t>Conclusion*: Oil prices are not driven purely by supply-demand fundamentals — geopolitical shocks cause sharp, sudden price dislocations that revert over 6–18 months.</a:t>
            </a:r>
            <a:endParaRPr sz="1100"/>
          </a:p>
        </p:txBody>
      </p:sp>
      <p:sp>
        <p:nvSpPr>
          <p:cNvPr id="152" name="Google Shape;152;p2"/>
          <p:cNvSpPr txBox="1"/>
          <p:nvPr/>
        </p:nvSpPr>
        <p:spPr>
          <a:xfrm>
            <a:off x="417500" y="3241325"/>
            <a:ext cx="9196200" cy="523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US" sz="1100">
                <a:solidFill>
                  <a:srgbClr val="1565C0"/>
                </a:solidFill>
                <a:latin typeface="Calibri"/>
                <a:ea typeface="Calibri"/>
                <a:cs typeface="Calibri"/>
                <a:sym typeface="Calibri"/>
              </a:rPr>
              <a:t>Period                         :  Apr-2010 – Mar 2026 ; Oil price records       :  4,047 daily observations; Geopolitical events  :  35 tagged events</a:t>
            </a:r>
            <a:endParaRPr sz="1100">
              <a:solidFill>
                <a:srgbClr val="1565C0"/>
              </a:solidFill>
              <a:latin typeface="Calibri"/>
              <a:ea typeface="Calibri"/>
              <a:cs typeface="Calibri"/>
              <a:sym typeface="Calibri"/>
            </a:endParaRPr>
          </a:p>
          <a:p>
            <a:pPr indent="0" lvl="0" marL="457200" rtl="0" algn="l">
              <a:spcBef>
                <a:spcPts val="0"/>
              </a:spcBef>
              <a:spcAft>
                <a:spcPts val="0"/>
              </a:spcAft>
              <a:buNone/>
            </a:pPr>
            <a:r>
              <a:rPr lang="en-US" sz="1100">
                <a:solidFill>
                  <a:srgbClr val="1565C0"/>
                </a:solidFill>
                <a:latin typeface="Calibri"/>
                <a:ea typeface="Calibri"/>
                <a:cs typeface="Calibri"/>
                <a:sym typeface="Calibri"/>
              </a:rPr>
              <a:t>Key variables             :  Brent, WTI, DXY, VIX, GPR Index, returns, volatility</a:t>
            </a:r>
            <a:endParaRPr sz="1100">
              <a:solidFill>
                <a:srgbClr val="1565C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57" name="Shape 157"/>
        <p:cNvGrpSpPr/>
        <p:nvPr/>
      </p:nvGrpSpPr>
      <p:grpSpPr>
        <a:xfrm>
          <a:off x="0" y="0"/>
          <a:ext cx="0" cy="0"/>
          <a:chOff x="0" y="0"/>
          <a:chExt cx="0" cy="0"/>
        </a:xfrm>
      </p:grpSpPr>
      <p:sp>
        <p:nvSpPr>
          <p:cNvPr id="158" name="Google Shape;158;g3d26b78a17e_0_197"/>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d26b78a17e_0_197"/>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160" name="Google Shape;160;g3d26b78a17e_0_197"/>
          <p:cNvSpPr txBox="1"/>
          <p:nvPr/>
        </p:nvSpPr>
        <p:spPr>
          <a:xfrm>
            <a:off x="139017" y="1225500"/>
            <a:ext cx="3866400" cy="26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400"/>
              </a:spcBef>
              <a:spcAft>
                <a:spcPts val="0"/>
              </a:spcAft>
              <a:buNone/>
            </a:pPr>
            <a:r>
              <a:rPr lang="en-US" sz="1200">
                <a:solidFill>
                  <a:schemeClr val="dk1"/>
                </a:solidFill>
                <a:latin typeface="Roboto"/>
                <a:ea typeface="Roboto"/>
                <a:cs typeface="Roboto"/>
                <a:sym typeface="Roboto"/>
              </a:rPr>
              <a:t>The correlation heatmap shows Brent and WTI prices with a correlation of </a:t>
            </a:r>
            <a:r>
              <a:rPr b="1" lang="en-US" sz="1200">
                <a:solidFill>
                  <a:schemeClr val="dk1"/>
                </a:solidFill>
                <a:latin typeface="Roboto"/>
                <a:ea typeface="Roboto"/>
                <a:cs typeface="Roboto"/>
                <a:sym typeface="Roboto"/>
              </a:rPr>
              <a:t>~0.99</a:t>
            </a:r>
            <a:r>
              <a:rPr lang="en-US" sz="1200">
                <a:solidFill>
                  <a:schemeClr val="dk1"/>
                </a:solidFill>
                <a:latin typeface="Roboto"/>
                <a:ea typeface="Roboto"/>
                <a:cs typeface="Roboto"/>
                <a:sym typeface="Roboto"/>
              </a:rPr>
              <a:t> — they move almost identically. However, the </a:t>
            </a:r>
            <a:r>
              <a:rPr b="1" lang="en-US" sz="1200">
                <a:solidFill>
                  <a:schemeClr val="dk1"/>
                </a:solidFill>
                <a:latin typeface="Roboto"/>
                <a:ea typeface="Roboto"/>
                <a:cs typeface="Roboto"/>
                <a:sym typeface="Roboto"/>
              </a:rPr>
              <a:t>Brent-WTI spread</a:t>
            </a:r>
            <a:r>
              <a:rPr lang="en-US" sz="1200">
                <a:solidFill>
                  <a:schemeClr val="dk1"/>
                </a:solidFill>
                <a:latin typeface="Roboto"/>
                <a:ea typeface="Roboto"/>
                <a:cs typeface="Roboto"/>
                <a:sym typeface="Roboto"/>
              </a:rPr>
              <a:t> widens during supply disruptions (Brent trades at a premium during Middle East tensions due to shipping risk).</a:t>
            </a:r>
            <a:endParaRPr sz="12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
              </a:spcBef>
              <a:spcAft>
                <a:spcPts val="200"/>
              </a:spcAft>
              <a:buNone/>
            </a:pPr>
            <a:r>
              <a:rPr b="1" lang="en-US" sz="1200">
                <a:solidFill>
                  <a:schemeClr val="dk1"/>
                </a:solidFill>
                <a:latin typeface="Roboto"/>
                <a:ea typeface="Roboto"/>
                <a:cs typeface="Roboto"/>
                <a:sym typeface="Roboto"/>
              </a:rPr>
              <a:t>Conclusion:</a:t>
            </a:r>
            <a:r>
              <a:rPr lang="en-US" sz="1200">
                <a:solidFill>
                  <a:schemeClr val="dk1"/>
                </a:solidFill>
                <a:latin typeface="Roboto"/>
                <a:ea typeface="Roboto"/>
                <a:cs typeface="Roboto"/>
                <a:sym typeface="Roboto"/>
              </a:rPr>
              <a:t> For global analysis, Brent is the more representative benchmark. WTI is more sensitive to US domestic inventory and pipeline infrastructure.</a:t>
            </a:r>
            <a:endParaRPr sz="1200">
              <a:solidFill>
                <a:schemeClr val="dk1"/>
              </a:solidFill>
              <a:latin typeface="Roboto"/>
              <a:ea typeface="Roboto"/>
              <a:cs typeface="Roboto"/>
              <a:sym typeface="Roboto"/>
            </a:endParaRPr>
          </a:p>
        </p:txBody>
      </p:sp>
      <p:pic>
        <p:nvPicPr>
          <p:cNvPr id="161" name="Google Shape;161;g3d26b78a17e_0_197"/>
          <p:cNvPicPr preferRelativeResize="0"/>
          <p:nvPr/>
        </p:nvPicPr>
        <p:blipFill>
          <a:blip r:embed="rId3">
            <a:alphaModFix/>
          </a:blip>
          <a:stretch>
            <a:fillRect/>
          </a:stretch>
        </p:blipFill>
        <p:spPr>
          <a:xfrm>
            <a:off x="4375000" y="1039975"/>
            <a:ext cx="4704050" cy="3797001"/>
          </a:xfrm>
          <a:prstGeom prst="rect">
            <a:avLst/>
          </a:prstGeom>
          <a:noFill/>
          <a:ln>
            <a:noFill/>
          </a:ln>
        </p:spPr>
      </p:pic>
      <p:sp>
        <p:nvSpPr>
          <p:cNvPr id="162" name="Google Shape;162;g3d26b78a17e_0_197"/>
          <p:cNvSpPr txBox="1"/>
          <p:nvPr/>
        </p:nvSpPr>
        <p:spPr>
          <a:xfrm>
            <a:off x="139025" y="746850"/>
            <a:ext cx="7080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600">
                <a:solidFill>
                  <a:schemeClr val="dk1"/>
                </a:solidFill>
                <a:latin typeface="Roboto"/>
                <a:ea typeface="Roboto"/>
                <a:cs typeface="Roboto"/>
                <a:sym typeface="Roboto"/>
              </a:rPr>
              <a:t>Finding 2: Brent and WTI Are Highly Correlated</a:t>
            </a:r>
            <a:endParaRPr/>
          </a:p>
        </p:txBody>
      </p:sp>
      <p:sp>
        <p:nvSpPr>
          <p:cNvPr id="163" name="Google Shape;163;g3d26b78a17e_0_197"/>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68" name="Shape 168"/>
        <p:cNvGrpSpPr/>
        <p:nvPr/>
      </p:nvGrpSpPr>
      <p:grpSpPr>
        <a:xfrm>
          <a:off x="0" y="0"/>
          <a:ext cx="0" cy="0"/>
          <a:chOff x="0" y="0"/>
          <a:chExt cx="0" cy="0"/>
        </a:xfrm>
      </p:grpSpPr>
      <p:sp>
        <p:nvSpPr>
          <p:cNvPr id="169" name="Google Shape;169;g3d26b78a17e_0_2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d26b78a17e_0_2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171" name="Google Shape;171;g3d26b78a17e_0_234"/>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172" name="Google Shape;172;g3d26b78a17e_0_234"/>
          <p:cNvSpPr txBox="1"/>
          <p:nvPr/>
        </p:nvSpPr>
        <p:spPr>
          <a:xfrm>
            <a:off x="0" y="790150"/>
            <a:ext cx="9144000" cy="412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3: VIX and Oil Have a Complex, Non-Linear Relationship</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100">
                <a:solidFill>
                  <a:schemeClr val="dk1"/>
                </a:solidFill>
                <a:latin typeface="Roboto"/>
                <a:ea typeface="Roboto"/>
                <a:cs typeface="Roboto"/>
                <a:sym typeface="Roboto"/>
              </a:rPr>
              <a:t>The VIX vs Brent scatter plot shows:</a:t>
            </a:r>
            <a:endParaRPr sz="1100">
              <a:solidFill>
                <a:schemeClr val="dk1"/>
              </a:solidFill>
              <a:latin typeface="Roboto"/>
              <a:ea typeface="Roboto"/>
              <a:cs typeface="Roboto"/>
              <a:sym typeface="Roboto"/>
            </a:endParaRPr>
          </a:p>
          <a:p>
            <a:pPr indent="-298450" lvl="0" marL="457200" rtl="0" algn="l">
              <a:lnSpc>
                <a:spcPct val="115000"/>
              </a:lnSpc>
              <a:spcBef>
                <a:spcPts val="100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Low VIX (calm markets)</a:t>
            </a:r>
            <a:r>
              <a:rPr lang="en-US" sz="1100">
                <a:solidFill>
                  <a:schemeClr val="dk1"/>
                </a:solidFill>
                <a:latin typeface="Roboto"/>
                <a:ea typeface="Roboto"/>
                <a:cs typeface="Roboto"/>
                <a:sym typeface="Roboto"/>
              </a:rPr>
              <a:t> → Oil prices are stable to rising (risk-on environment supports demand)</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High VIX spikes (&gt;40)</a:t>
            </a:r>
            <a:r>
              <a:rPr lang="en-US" sz="1100">
                <a:solidFill>
                  <a:schemeClr val="dk1"/>
                </a:solidFill>
                <a:latin typeface="Roboto"/>
                <a:ea typeface="Roboto"/>
                <a:cs typeface="Roboto"/>
                <a:sym typeface="Roboto"/>
              </a:rPr>
              <a:t> → Oil prices fall sharply (recession fear reduces demand)</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b="1" lang="en-US" sz="1100">
                <a:solidFill>
                  <a:schemeClr val="dk1"/>
                </a:solidFill>
                <a:latin typeface="Roboto"/>
                <a:ea typeface="Roboto"/>
                <a:cs typeface="Roboto"/>
                <a:sym typeface="Roboto"/>
              </a:rPr>
              <a:t>Exception:</a:t>
            </a:r>
            <a:r>
              <a:rPr lang="en-US" sz="1100">
                <a:solidFill>
                  <a:schemeClr val="dk1"/>
                </a:solidFill>
                <a:latin typeface="Roboto"/>
                <a:ea typeface="Roboto"/>
                <a:cs typeface="Roboto"/>
                <a:sym typeface="Roboto"/>
              </a:rPr>
              <a:t> The 2022 Ukraine war produced </a:t>
            </a:r>
            <a:r>
              <a:rPr b="1" lang="en-US" sz="1100">
                <a:solidFill>
                  <a:schemeClr val="dk1"/>
                </a:solidFill>
                <a:latin typeface="Roboto"/>
                <a:ea typeface="Roboto"/>
                <a:cs typeface="Roboto"/>
                <a:sym typeface="Roboto"/>
              </a:rPr>
              <a:t>high VIX AND high oil</a:t>
            </a:r>
            <a:r>
              <a:rPr lang="en-US" sz="1100">
                <a:solidFill>
                  <a:schemeClr val="dk1"/>
                </a:solidFill>
                <a:latin typeface="Roboto"/>
                <a:ea typeface="Roboto"/>
                <a:cs typeface="Roboto"/>
                <a:sym typeface="Roboto"/>
              </a:rPr>
              <a:t> simultaneously — supply fear overrode demand fear</a:t>
            </a:r>
            <a:endParaRPr sz="11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b="1" lang="en-US" sz="1100">
                <a:solidFill>
                  <a:schemeClr val="dk1"/>
                </a:solidFill>
                <a:latin typeface="Roboto"/>
                <a:ea typeface="Roboto"/>
                <a:cs typeface="Roboto"/>
                <a:sym typeface="Roboto"/>
              </a:rPr>
              <a:t>Conclusion:</a:t>
            </a:r>
            <a:r>
              <a:rPr lang="en-US" sz="1100">
                <a:solidFill>
                  <a:schemeClr val="dk1"/>
                </a:solidFill>
                <a:latin typeface="Roboto"/>
                <a:ea typeface="Roboto"/>
                <a:cs typeface="Roboto"/>
                <a:sym typeface="Roboto"/>
              </a:rPr>
              <a:t> VIX is a useful risk signal for oil but not a reliable standalone predictor. Geopolitical supply shocks break the typical inverse relationship.</a:t>
            </a:r>
            <a:endParaRPr sz="11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4: The GPR Index Leads Price Spikes</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Th</a:t>
            </a:r>
            <a:r>
              <a:rPr lang="en-US" sz="1100">
                <a:solidFill>
                  <a:schemeClr val="dk1"/>
                </a:solidFill>
                <a:latin typeface="Roboto"/>
                <a:ea typeface="Roboto"/>
                <a:cs typeface="Roboto"/>
                <a:sym typeface="Roboto"/>
              </a:rPr>
              <a:t>e Geopolitical Risk (GPR) index tends to </a:t>
            </a:r>
            <a:r>
              <a:rPr b="1" lang="en-US" sz="1100">
                <a:solidFill>
                  <a:schemeClr val="dk1"/>
                </a:solidFill>
                <a:latin typeface="Roboto"/>
                <a:ea typeface="Roboto"/>
                <a:cs typeface="Roboto"/>
                <a:sym typeface="Roboto"/>
              </a:rPr>
              <a:t>spike before or simultaneously</a:t>
            </a:r>
            <a:r>
              <a:rPr lang="en-US" sz="1100">
                <a:solidFill>
                  <a:schemeClr val="dk1"/>
                </a:solidFill>
                <a:latin typeface="Roboto"/>
                <a:ea typeface="Roboto"/>
                <a:cs typeface="Roboto"/>
                <a:sym typeface="Roboto"/>
              </a:rPr>
              <a:t> with oil price jumps, particularly during:</a:t>
            </a:r>
            <a:endParaRPr sz="1100">
              <a:solidFill>
                <a:schemeClr val="dk1"/>
              </a:solidFill>
              <a:latin typeface="Roboto"/>
              <a:ea typeface="Roboto"/>
              <a:cs typeface="Roboto"/>
              <a:sym typeface="Roboto"/>
            </a:endParaRPr>
          </a:p>
          <a:p>
            <a:pPr indent="-298450" lvl="0" marL="457200" rtl="0" algn="l">
              <a:lnSpc>
                <a:spcPct val="115000"/>
              </a:lnSpc>
              <a:spcBef>
                <a:spcPts val="1000"/>
              </a:spcBef>
              <a:spcAft>
                <a:spcPts val="0"/>
              </a:spcAft>
              <a:buClr>
                <a:schemeClr val="dk1"/>
              </a:buClr>
              <a:buSzPts val="1100"/>
              <a:buFont typeface="Roboto"/>
              <a:buChar char="●"/>
            </a:pPr>
            <a:r>
              <a:rPr lang="en-US" sz="1100">
                <a:solidFill>
                  <a:schemeClr val="dk1"/>
                </a:solidFill>
                <a:latin typeface="Roboto"/>
                <a:ea typeface="Roboto"/>
                <a:cs typeface="Roboto"/>
                <a:sym typeface="Roboto"/>
              </a:rPr>
              <a:t>Middle East conflicts (Syria 2011, Yemen 2015, Gaza 2023)</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US" sz="1100">
                <a:solidFill>
                  <a:schemeClr val="dk1"/>
                </a:solidFill>
                <a:latin typeface="Roboto"/>
                <a:ea typeface="Roboto"/>
                <a:cs typeface="Roboto"/>
                <a:sym typeface="Roboto"/>
              </a:rPr>
              <a:t>Russia-related events (Crimea 2014, Ukraine 2022)</a:t>
            </a:r>
            <a:endParaRPr sz="11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b="1" lang="en-US" sz="1100">
                <a:solidFill>
                  <a:schemeClr val="dk1"/>
                </a:solidFill>
                <a:latin typeface="Roboto"/>
                <a:ea typeface="Roboto"/>
                <a:cs typeface="Roboto"/>
                <a:sym typeface="Roboto"/>
              </a:rPr>
              <a:t>Conclusion:</a:t>
            </a:r>
            <a:r>
              <a:rPr lang="en-US" sz="1100">
                <a:solidFill>
                  <a:schemeClr val="dk1"/>
                </a:solidFill>
                <a:latin typeface="Roboto"/>
                <a:ea typeface="Roboto"/>
                <a:cs typeface="Roboto"/>
                <a:sym typeface="Roboto"/>
              </a:rPr>
              <a:t> GPR index is a useful early-warning signal. An elevated GPR (&gt;200) has historically preceded a Brent price increase of 10–25% within 30–60 days, particularly when Middle East supply routes are at risk.</a:t>
            </a:r>
            <a:endParaRPr sz="1100">
              <a:solidFill>
                <a:schemeClr val="dk1"/>
              </a:solidFill>
              <a:latin typeface="Roboto"/>
              <a:ea typeface="Roboto"/>
              <a:cs typeface="Roboto"/>
              <a:sym typeface="Roboto"/>
            </a:endParaRPr>
          </a:p>
          <a:p>
            <a:pPr indent="0" lvl="0" marL="381000" marR="381000" rtl="0" algn="l">
              <a:lnSpc>
                <a:spcPct val="115000"/>
              </a:lnSpc>
              <a:spcBef>
                <a:spcPts val="200"/>
              </a:spcBef>
              <a:spcAft>
                <a:spcPts val="200"/>
              </a:spcAft>
              <a:buNone/>
            </a:pPr>
            <a:r>
              <a:t/>
            </a:r>
            <a:endParaRPr b="1" sz="10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77" name="Shape 177"/>
        <p:cNvGrpSpPr/>
        <p:nvPr/>
      </p:nvGrpSpPr>
      <p:grpSpPr>
        <a:xfrm>
          <a:off x="0" y="0"/>
          <a:ext cx="0" cy="0"/>
          <a:chOff x="0" y="0"/>
          <a:chExt cx="0" cy="0"/>
        </a:xfrm>
      </p:grpSpPr>
      <p:sp>
        <p:nvSpPr>
          <p:cNvPr id="178" name="Google Shape;178;g3d26b78a17e_0_22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d26b78a17e_0_22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Data Analysis &amp; Findings</a:t>
            </a:r>
            <a:endParaRPr b="1" sz="2400">
              <a:solidFill>
                <a:srgbClr val="FFFFFF"/>
              </a:solidFill>
              <a:latin typeface="Calibri"/>
              <a:ea typeface="Calibri"/>
              <a:cs typeface="Calibri"/>
              <a:sym typeface="Calibri"/>
            </a:endParaRPr>
          </a:p>
        </p:txBody>
      </p:sp>
      <p:sp>
        <p:nvSpPr>
          <p:cNvPr id="180" name="Google Shape;180;g3d26b78a17e_0_22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181" name="Google Shape;181;g3d26b78a17e_0_222"/>
          <p:cNvSpPr txBox="1"/>
          <p:nvPr/>
        </p:nvSpPr>
        <p:spPr>
          <a:xfrm>
            <a:off x="0" y="0"/>
            <a:ext cx="9144000" cy="482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5: The DXY (US Dollar) Has an Inverse Relationship with Oil</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Since oil is priced in USD, a stronger dollar makes oil more expensive for non-US buyers, suppressing demand:</a:t>
            </a:r>
            <a:endParaRPr sz="1000">
              <a:solidFill>
                <a:schemeClr val="dk1"/>
              </a:solidFill>
              <a:latin typeface="Roboto"/>
              <a:ea typeface="Roboto"/>
              <a:cs typeface="Roboto"/>
              <a:sym typeface="Roboto"/>
            </a:endParaRPr>
          </a:p>
          <a:p>
            <a:pPr indent="-292100" lvl="0" marL="457200" rtl="0" algn="l">
              <a:lnSpc>
                <a:spcPct val="115000"/>
              </a:lnSpc>
              <a:spcBef>
                <a:spcPts val="100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DXY correlation with Brent: approximately </a:t>
            </a:r>
            <a:r>
              <a:rPr b="1" lang="en-US" sz="1000">
                <a:solidFill>
                  <a:schemeClr val="dk1"/>
                </a:solidFill>
                <a:latin typeface="Roboto"/>
                <a:ea typeface="Roboto"/>
                <a:cs typeface="Roboto"/>
                <a:sym typeface="Roboto"/>
              </a:rPr>
              <a:t>-0.40 to -0.55</a:t>
            </a:r>
            <a:endParaRPr b="1"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This relationship was most pronounced during 2014–2016 and 2022</a:t>
            </a:r>
            <a:endParaRPr sz="10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b="1" lang="en-US" sz="1000">
                <a:solidFill>
                  <a:schemeClr val="dk1"/>
                </a:solidFill>
                <a:latin typeface="Roboto"/>
                <a:ea typeface="Roboto"/>
                <a:cs typeface="Roboto"/>
                <a:sym typeface="Roboto"/>
              </a:rPr>
              <a:t>Conclusion:</a:t>
            </a:r>
            <a:r>
              <a:rPr lang="en-US" sz="1000">
                <a:solidFill>
                  <a:schemeClr val="dk1"/>
                </a:solidFill>
                <a:latin typeface="Roboto"/>
                <a:ea typeface="Roboto"/>
                <a:cs typeface="Roboto"/>
                <a:sym typeface="Roboto"/>
              </a:rPr>
              <a:t> Dollar strength acts as a dampener on oil prices during non-crisis periods. Central bank rate decisions (which strengthen the dollar) indirectly suppress oil demand.</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Finding 6: Return Volatility Clusters Around Events</a:t>
            </a:r>
            <a:endParaRPr b="1" sz="1600">
              <a:solidFill>
                <a:schemeClr val="dk1"/>
              </a:solidFill>
              <a:latin typeface="Roboto"/>
              <a:ea typeface="Roboto"/>
              <a:cs typeface="Roboto"/>
              <a:sym typeface="Roboto"/>
            </a:endParaRPr>
          </a:p>
          <a:p>
            <a:pPr indent="0" lvl="0" marL="0" rtl="0" algn="l">
              <a:lnSpc>
                <a:spcPct val="115000"/>
              </a:lnSpc>
              <a:spcBef>
                <a:spcPts val="400"/>
              </a:spcBef>
              <a:spcAft>
                <a:spcPts val="0"/>
              </a:spcAft>
              <a:buNone/>
            </a:pPr>
            <a:r>
              <a:rPr lang="en-US" sz="1000">
                <a:solidFill>
                  <a:schemeClr val="dk1"/>
                </a:solidFill>
                <a:latin typeface="Roboto"/>
                <a:ea typeface="Roboto"/>
                <a:cs typeface="Roboto"/>
                <a:sym typeface="Roboto"/>
              </a:rPr>
              <a:t>Brent and WTI daily returns show </a:t>
            </a:r>
            <a:r>
              <a:rPr b="1" lang="en-US" sz="1000">
                <a:solidFill>
                  <a:schemeClr val="dk1"/>
                </a:solidFill>
                <a:latin typeface="Roboto"/>
                <a:ea typeface="Roboto"/>
                <a:cs typeface="Roboto"/>
                <a:sym typeface="Roboto"/>
              </a:rPr>
              <a:t>volatility clustering</a:t>
            </a:r>
            <a:r>
              <a:rPr lang="en-US" sz="1000">
                <a:solidFill>
                  <a:schemeClr val="dk1"/>
                </a:solidFill>
                <a:latin typeface="Roboto"/>
                <a:ea typeface="Roboto"/>
                <a:cs typeface="Roboto"/>
                <a:sym typeface="Roboto"/>
              </a:rPr>
              <a:t> — large price swings follow other large swings, particularly around the 35 tagged geopolitical events. Calm periods (2017–2019) show returns within ±2%, while shock periods show ±10% daily moves.</a:t>
            </a:r>
            <a:endParaRPr sz="1000">
              <a:solidFill>
                <a:schemeClr val="dk1"/>
              </a:solidFill>
              <a:latin typeface="Roboto"/>
              <a:ea typeface="Roboto"/>
              <a:cs typeface="Roboto"/>
              <a:sym typeface="Roboto"/>
            </a:endParaRPr>
          </a:p>
          <a:p>
            <a:pPr indent="0" lvl="0" marL="0" rtl="0" algn="l">
              <a:lnSpc>
                <a:spcPct val="115000"/>
              </a:lnSpc>
              <a:spcBef>
                <a:spcPts val="200"/>
              </a:spcBef>
              <a:spcAft>
                <a:spcPts val="0"/>
              </a:spcAft>
              <a:buNone/>
            </a:pPr>
            <a:r>
              <a:rPr b="1" lang="en-US" sz="1000">
                <a:solidFill>
                  <a:schemeClr val="dk1"/>
                </a:solidFill>
                <a:latin typeface="Roboto"/>
                <a:ea typeface="Roboto"/>
                <a:cs typeface="Roboto"/>
                <a:sym typeface="Roboto"/>
              </a:rPr>
              <a:t>Conclusion:</a:t>
            </a:r>
            <a:r>
              <a:rPr lang="en-US" sz="1000">
                <a:solidFill>
                  <a:schemeClr val="dk1"/>
                </a:solidFill>
                <a:latin typeface="Roboto"/>
                <a:ea typeface="Roboto"/>
                <a:cs typeface="Roboto"/>
                <a:sym typeface="Roboto"/>
              </a:rPr>
              <a:t> Oil market risk is not constant — it is regime-dependent. A standard deviation-based risk model would underestimate tail risk during geopolitical crises.</a:t>
            </a:r>
            <a:endParaRPr sz="1000">
              <a:solidFill>
                <a:schemeClr val="dk1"/>
              </a:solidFill>
              <a:latin typeface="Roboto"/>
              <a:ea typeface="Roboto"/>
              <a:cs typeface="Roboto"/>
              <a:sym typeface="Roboto"/>
            </a:endParaRPr>
          </a:p>
          <a:p>
            <a:pPr indent="0" lvl="0" marL="0" rtl="0" algn="l">
              <a:lnSpc>
                <a:spcPct val="115000"/>
              </a:lnSpc>
              <a:spcBef>
                <a:spcPts val="1800"/>
              </a:spcBef>
              <a:spcAft>
                <a:spcPts val="0"/>
              </a:spcAft>
              <a:buNone/>
            </a:pPr>
            <a:r>
              <a:rPr b="1" lang="en-US" sz="1600">
                <a:solidFill>
                  <a:schemeClr val="dk1"/>
                </a:solidFill>
                <a:latin typeface="Roboto"/>
                <a:ea typeface="Roboto"/>
                <a:cs typeface="Roboto"/>
                <a:sym typeface="Roboto"/>
              </a:rPr>
              <a:t>Overall Conclusion:</a:t>
            </a:r>
            <a:endParaRPr b="1" sz="1600">
              <a:solidFill>
                <a:schemeClr val="dk1"/>
              </a:solidFill>
              <a:latin typeface="Roboto"/>
              <a:ea typeface="Roboto"/>
              <a:cs typeface="Roboto"/>
              <a:sym typeface="Roboto"/>
            </a:endParaRPr>
          </a:p>
          <a:p>
            <a:pPr indent="0" lvl="0" marL="381000" marR="381000" rtl="0" algn="l">
              <a:lnSpc>
                <a:spcPct val="115000"/>
              </a:lnSpc>
              <a:spcBef>
                <a:spcPts val="400"/>
              </a:spcBef>
              <a:spcAft>
                <a:spcPts val="200"/>
              </a:spcAft>
              <a:buNone/>
            </a:pPr>
            <a:r>
              <a:rPr b="1" lang="en-US" sz="1000">
                <a:solidFill>
                  <a:schemeClr val="dk1"/>
                </a:solidFill>
                <a:latin typeface="Roboto"/>
                <a:ea typeface="Roboto"/>
                <a:cs typeface="Roboto"/>
                <a:sym typeface="Roboto"/>
              </a:rPr>
              <a:t>Geopolitical events are the primary driver of oil price volatility beyond normal supply-demand cycles. The data shows that between 2010–2026, every major price dislocation (&gt;20% move) was associated with a geopolitical event, a pandemic, or an OPEC policy shift. Quantitative signals such as VIX, GPR Index, and DXY provide partial early warning but must be interpreted together rather than in isolation. A robust oil price forecasting model must incorporate both macroeconomic variables and geopolitical risk factors.</a:t>
            </a:r>
            <a:endParaRPr b="1" sz="10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6" name="Shape 186"/>
        <p:cNvGrpSpPr/>
        <p:nvPr/>
      </p:nvGrpSpPr>
      <p:grpSpPr>
        <a:xfrm>
          <a:off x="0" y="0"/>
          <a:ext cx="0" cy="0"/>
          <a:chOff x="0" y="0"/>
          <a:chExt cx="0" cy="0"/>
        </a:xfrm>
      </p:grpSpPr>
      <p:sp>
        <p:nvSpPr>
          <p:cNvPr id="187" name="Google Shape;187;p9"/>
          <p:cNvSpPr/>
          <p:nvPr/>
        </p:nvSpPr>
        <p:spPr>
          <a:xfrm>
            <a:off x="0" y="0"/>
            <a:ext cx="9144000" cy="77724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365760" y="914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Technical Stack &amp; Design Decisions</a:t>
            </a:r>
            <a:endParaRPr b="0" i="0" sz="2400" u="none" cap="none" strike="noStrike">
              <a:solidFill>
                <a:schemeClr val="dk1"/>
              </a:solidFill>
              <a:latin typeface="Calibri"/>
              <a:ea typeface="Calibri"/>
              <a:cs typeface="Calibri"/>
              <a:sym typeface="Calibri"/>
            </a:endParaRPr>
          </a:p>
        </p:txBody>
      </p:sp>
      <p:sp>
        <p:nvSpPr>
          <p:cNvPr id="189" name="Google Shape;189;p9"/>
          <p:cNvSpPr/>
          <p:nvPr/>
        </p:nvSpPr>
        <p:spPr>
          <a:xfrm>
            <a:off x="274320" y="914400"/>
            <a:ext cx="1234440" cy="420624"/>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274320" y="914400"/>
            <a:ext cx="123444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Staging</a:t>
            </a:r>
            <a:endParaRPr b="0" i="0" sz="1000" u="none" cap="none" strike="noStrike">
              <a:solidFill>
                <a:schemeClr val="dk1"/>
              </a:solidFill>
              <a:latin typeface="Calibri"/>
              <a:ea typeface="Calibri"/>
              <a:cs typeface="Calibri"/>
              <a:sym typeface="Calibri"/>
            </a:endParaRPr>
          </a:p>
        </p:txBody>
      </p:sp>
      <p:sp>
        <p:nvSpPr>
          <p:cNvPr id="191" name="Google Shape;191;p9"/>
          <p:cNvSpPr/>
          <p:nvPr/>
        </p:nvSpPr>
        <p:spPr>
          <a:xfrm>
            <a:off x="1645920" y="950976"/>
            <a:ext cx="1645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DuckDB</a:t>
            </a:r>
            <a:endParaRPr b="0" i="0" sz="1100" u="none" cap="none" strike="noStrike">
              <a:solidFill>
                <a:schemeClr val="dk1"/>
              </a:solidFill>
              <a:latin typeface="Calibri"/>
              <a:ea typeface="Calibri"/>
              <a:cs typeface="Calibri"/>
              <a:sym typeface="Calibri"/>
            </a:endParaRPr>
          </a:p>
        </p:txBody>
      </p:sp>
      <p:sp>
        <p:nvSpPr>
          <p:cNvPr id="192" name="Google Shape;192;p9"/>
          <p:cNvSpPr/>
          <p:nvPr/>
        </p:nvSpPr>
        <p:spPr>
          <a:xfrm>
            <a:off x="2613800" y="882400"/>
            <a:ext cx="6747300" cy="384000"/>
          </a:xfrm>
          <a:prstGeom prst="rect">
            <a:avLst/>
          </a:prstGeom>
          <a:noFill/>
          <a:ln>
            <a:noFill/>
          </a:ln>
        </p:spPr>
        <p:txBody>
          <a:bodyPr anchorCtr="0" anchor="ctr" bIns="0" lIns="0" spcFirstLastPara="1" rIns="0" wrap="square" tIns="0">
            <a:noAutofit/>
          </a:bodyPr>
          <a:lstStyle/>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Local data warehouse. Ensured data quality before cloud transfer. </a:t>
            </a:r>
            <a:r>
              <a:rPr lang="en-US" sz="1000">
                <a:solidFill>
                  <a:srgbClr val="1A1A2E"/>
                </a:solidFill>
                <a:latin typeface="Calibri"/>
                <a:ea typeface="Calibri"/>
                <a:cs typeface="Calibri"/>
                <a:sym typeface="Calibri"/>
              </a:rPr>
              <a:t>V</a:t>
            </a:r>
            <a:r>
              <a:rPr i="0" lang="en-US" sz="1000" u="none" cap="none" strike="noStrike">
                <a:solidFill>
                  <a:srgbClr val="1A1A2E"/>
                </a:solidFill>
                <a:latin typeface="Calibri"/>
                <a:ea typeface="Calibri"/>
                <a:cs typeface="Calibri"/>
                <a:sym typeface="Calibri"/>
              </a:rPr>
              <a:t>alidates data before cloud costs. </a:t>
            </a:r>
            <a:endParaRPr i="0" sz="1000" u="none" cap="none" strike="noStrike">
              <a:solidFill>
                <a:srgbClr val="1A1A2E"/>
              </a:solidFill>
              <a:latin typeface="Calibri"/>
              <a:ea typeface="Calibri"/>
              <a:cs typeface="Calibri"/>
              <a:sym typeface="Calibri"/>
            </a:endParaRPr>
          </a:p>
          <a:p>
            <a:pPr indent="-292100" lvl="0" marL="457200" rtl="0" algn="l">
              <a:lnSpc>
                <a:spcPct val="115000"/>
              </a:lnSpc>
              <a:spcBef>
                <a:spcPts val="0"/>
              </a:spcBef>
              <a:spcAft>
                <a:spcPts val="0"/>
              </a:spcAft>
              <a:buClr>
                <a:schemeClr val="dk1"/>
              </a:buClr>
              <a:buSzPts val="1000"/>
              <a:buFont typeface="Calibri"/>
              <a:buChar char="●"/>
            </a:pPr>
            <a:r>
              <a:rPr lang="en-US" sz="1000">
                <a:solidFill>
                  <a:schemeClr val="dk1"/>
                </a:solidFill>
                <a:latin typeface="Calibri"/>
                <a:ea typeface="Calibri"/>
                <a:cs typeface="Calibri"/>
                <a:sym typeface="Calibri"/>
              </a:rPr>
              <a:t>Ingested both CSVs into a lightweight local database for fast querying before cloud load.</a:t>
            </a:r>
            <a:endParaRPr sz="1000">
              <a:solidFill>
                <a:srgbClr val="1A1A2E"/>
              </a:solidFill>
              <a:latin typeface="Calibri"/>
              <a:ea typeface="Calibri"/>
              <a:cs typeface="Calibri"/>
              <a:sym typeface="Calibri"/>
            </a:endParaRPr>
          </a:p>
        </p:txBody>
      </p:sp>
      <p:sp>
        <p:nvSpPr>
          <p:cNvPr id="193" name="Google Shape;193;p9"/>
          <p:cNvSpPr/>
          <p:nvPr/>
        </p:nvSpPr>
        <p:spPr>
          <a:xfrm>
            <a:off x="274320" y="1371600"/>
            <a:ext cx="8595360" cy="9144"/>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274320" y="1490472"/>
            <a:ext cx="1234440" cy="420624"/>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274320" y="1490472"/>
            <a:ext cx="123444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Extract/Load</a:t>
            </a:r>
            <a:endParaRPr b="0" i="0" sz="1000" u="none" cap="none" strike="noStrike">
              <a:solidFill>
                <a:schemeClr val="dk1"/>
              </a:solidFill>
              <a:latin typeface="Calibri"/>
              <a:ea typeface="Calibri"/>
              <a:cs typeface="Calibri"/>
              <a:sym typeface="Calibri"/>
            </a:endParaRPr>
          </a:p>
        </p:txBody>
      </p:sp>
      <p:sp>
        <p:nvSpPr>
          <p:cNvPr id="196" name="Google Shape;196;p9"/>
          <p:cNvSpPr/>
          <p:nvPr/>
        </p:nvSpPr>
        <p:spPr>
          <a:xfrm>
            <a:off x="1645920" y="1527048"/>
            <a:ext cx="1645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Meltano</a:t>
            </a:r>
            <a:endParaRPr b="0" i="0" sz="1100" u="none" cap="none" strike="noStrike">
              <a:solidFill>
                <a:schemeClr val="dk1"/>
              </a:solidFill>
              <a:latin typeface="Calibri"/>
              <a:ea typeface="Calibri"/>
              <a:cs typeface="Calibri"/>
              <a:sym typeface="Calibri"/>
            </a:endParaRPr>
          </a:p>
        </p:txBody>
      </p:sp>
      <p:sp>
        <p:nvSpPr>
          <p:cNvPr id="197" name="Google Shape;197;p9"/>
          <p:cNvSpPr/>
          <p:nvPr/>
        </p:nvSpPr>
        <p:spPr>
          <a:xfrm>
            <a:off x="2613800" y="1472225"/>
            <a:ext cx="6381600" cy="347400"/>
          </a:xfrm>
          <a:prstGeom prst="rect">
            <a:avLst/>
          </a:prstGeom>
          <a:noFill/>
          <a:ln>
            <a:noFill/>
          </a:ln>
        </p:spPr>
        <p:txBody>
          <a:bodyPr anchorCtr="0" anchor="ctr" bIns="0" lIns="0" spcFirstLastPara="1" rIns="0" wrap="square" tIns="0">
            <a:noAutofit/>
          </a:bodyPr>
          <a:lstStyle/>
          <a:p>
            <a:pPr indent="-292100" lvl="0" marL="457200" marR="0" rtl="0" algn="l">
              <a:spcBef>
                <a:spcPts val="0"/>
              </a:spcBef>
              <a:spcAft>
                <a:spcPts val="0"/>
              </a:spcAft>
              <a:buClr>
                <a:srgbClr val="1A1A2E"/>
              </a:buClr>
              <a:buSzPts val="1000"/>
              <a:buFont typeface="Calibri"/>
              <a:buChar char="●"/>
            </a:pPr>
            <a:r>
              <a:rPr i="0" lang="en-US" sz="1000" u="none" cap="none" strike="noStrike">
                <a:solidFill>
                  <a:srgbClr val="1A1A2E"/>
                </a:solidFill>
                <a:latin typeface="Calibri"/>
                <a:ea typeface="Calibri"/>
                <a:cs typeface="Calibri"/>
                <a:sym typeface="Calibri"/>
              </a:rPr>
              <a:t>Singer-based EL; </a:t>
            </a:r>
            <a:r>
              <a:rPr lang="en-US" sz="1000">
                <a:latin typeface="Calibri"/>
                <a:ea typeface="Calibri"/>
                <a:cs typeface="Calibri"/>
                <a:sym typeface="Calibri"/>
              </a:rPr>
              <a:t>Extracted data from CSVs using tap-csv, loaded into BigQuery using target-bigquery. </a:t>
            </a:r>
            <a:endParaRPr i="0" sz="1000" u="none" cap="none" strike="noStrike">
              <a:solidFill>
                <a:srgbClr val="1A1A2E"/>
              </a:solidFill>
              <a:latin typeface="Calibri"/>
              <a:ea typeface="Calibri"/>
              <a:cs typeface="Calibri"/>
              <a:sym typeface="Calibri"/>
            </a:endParaRPr>
          </a:p>
          <a:p>
            <a:pPr indent="-292100" lvl="0" marL="457200" marR="0" rtl="0" algn="l">
              <a:spcBef>
                <a:spcPts val="0"/>
              </a:spcBef>
              <a:spcAft>
                <a:spcPts val="0"/>
              </a:spcAft>
              <a:buClr>
                <a:srgbClr val="1A1A2E"/>
              </a:buClr>
              <a:buSzPts val="1000"/>
              <a:buFont typeface="Calibri"/>
              <a:buChar char="●"/>
            </a:pPr>
            <a:r>
              <a:rPr i="0" lang="en-US" sz="1000" u="none" cap="none" strike="noStrike">
                <a:solidFill>
                  <a:srgbClr val="1A1A2E"/>
                </a:solidFill>
                <a:latin typeface="Calibri"/>
                <a:ea typeface="Calibri"/>
                <a:cs typeface="Calibri"/>
                <a:sym typeface="Calibri"/>
              </a:rPr>
              <a:t>declarative YAML config; swap taps/targets without code changes </a:t>
            </a:r>
            <a:endParaRPr i="0" sz="1000" u="none" cap="none" strike="noStrike">
              <a:solidFill>
                <a:schemeClr val="dk1"/>
              </a:solidFill>
              <a:latin typeface="Calibri"/>
              <a:ea typeface="Calibri"/>
              <a:cs typeface="Calibri"/>
              <a:sym typeface="Calibri"/>
            </a:endParaRPr>
          </a:p>
        </p:txBody>
      </p:sp>
      <p:sp>
        <p:nvSpPr>
          <p:cNvPr id="198" name="Google Shape;198;p9"/>
          <p:cNvSpPr/>
          <p:nvPr/>
        </p:nvSpPr>
        <p:spPr>
          <a:xfrm>
            <a:off x="274320" y="1947672"/>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9"/>
          <p:cNvGrpSpPr/>
          <p:nvPr/>
        </p:nvGrpSpPr>
        <p:grpSpPr>
          <a:xfrm>
            <a:off x="274320" y="2133219"/>
            <a:ext cx="1234500" cy="439650"/>
            <a:chOff x="274320" y="2066544"/>
            <a:chExt cx="1234500" cy="439650"/>
          </a:xfrm>
        </p:grpSpPr>
        <p:sp>
          <p:nvSpPr>
            <p:cNvPr id="200" name="Google Shape;200;p9"/>
            <p:cNvSpPr/>
            <p:nvPr/>
          </p:nvSpPr>
          <p:spPr>
            <a:xfrm>
              <a:off x="274320" y="2066544"/>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274320" y="2085594"/>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Warehouse</a:t>
              </a:r>
              <a:endParaRPr b="0" i="0" sz="1000" u="none" cap="none" strike="noStrike">
                <a:solidFill>
                  <a:schemeClr val="dk1"/>
                </a:solidFill>
                <a:latin typeface="Calibri"/>
                <a:ea typeface="Calibri"/>
                <a:cs typeface="Calibri"/>
                <a:sym typeface="Calibri"/>
              </a:endParaRPr>
            </a:p>
          </p:txBody>
        </p:sp>
      </p:grpSp>
      <p:sp>
        <p:nvSpPr>
          <p:cNvPr id="202" name="Google Shape;202;p9"/>
          <p:cNvSpPr/>
          <p:nvPr/>
        </p:nvSpPr>
        <p:spPr>
          <a:xfrm>
            <a:off x="1645920" y="2160270"/>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BigQuery</a:t>
            </a:r>
            <a:endParaRPr b="0" i="0" sz="1100" u="none" cap="none" strike="noStrike">
              <a:solidFill>
                <a:schemeClr val="dk1"/>
              </a:solidFill>
              <a:latin typeface="Calibri"/>
              <a:ea typeface="Calibri"/>
              <a:cs typeface="Calibri"/>
              <a:sym typeface="Calibri"/>
            </a:endParaRPr>
          </a:p>
        </p:txBody>
      </p:sp>
      <p:sp>
        <p:nvSpPr>
          <p:cNvPr id="203" name="Google Shape;203;p9"/>
          <p:cNvSpPr/>
          <p:nvPr/>
        </p:nvSpPr>
        <p:spPr>
          <a:xfrm>
            <a:off x="2613800" y="2130725"/>
            <a:ext cx="6347400" cy="347400"/>
          </a:xfrm>
          <a:prstGeom prst="rect">
            <a:avLst/>
          </a:prstGeom>
          <a:noFill/>
          <a:ln>
            <a:noFill/>
          </a:ln>
        </p:spPr>
        <p:txBody>
          <a:bodyPr anchorCtr="0" anchor="ctr" bIns="0" lIns="0" spcFirstLastPara="1" rIns="0" wrap="square" tIns="0">
            <a:noAutofit/>
          </a:bodyPr>
          <a:lstStyle/>
          <a:p>
            <a:pPr indent="-292100" lvl="0" marL="457200" rtl="0" algn="l">
              <a:lnSpc>
                <a:spcPct val="115000"/>
              </a:lnSpc>
              <a:spcBef>
                <a:spcPts val="0"/>
              </a:spcBef>
              <a:spcAft>
                <a:spcPts val="0"/>
              </a:spcAft>
              <a:buSzPts val="1000"/>
              <a:buFont typeface="Calibri"/>
              <a:buChar char="●"/>
            </a:pPr>
            <a:r>
              <a:rPr lang="en-US" sz="1000">
                <a:latin typeface="Calibri"/>
                <a:ea typeface="Calibri"/>
                <a:cs typeface="Calibri"/>
                <a:sym typeface="Calibri"/>
              </a:rPr>
              <a:t>Stored raw tables (raw_oil_prices, raw_geo_events) and served as the central data store</a:t>
            </a:r>
            <a:endParaRPr sz="1000">
              <a:solidFill>
                <a:srgbClr val="1A1A2E"/>
              </a:solidFill>
              <a:latin typeface="Calibri"/>
              <a:ea typeface="Calibri"/>
              <a:cs typeface="Calibri"/>
              <a:sym typeface="Calibri"/>
            </a:endParaRPr>
          </a:p>
          <a:p>
            <a:pPr indent="-292100" lvl="0" marL="457200" rtl="0" algn="l">
              <a:lnSpc>
                <a:spcPct val="115000"/>
              </a:lnSpc>
              <a:spcBef>
                <a:spcPts val="0"/>
              </a:spcBef>
              <a:spcAft>
                <a:spcPts val="0"/>
              </a:spcAft>
              <a:buSzPts val="1000"/>
              <a:buFont typeface="Calibri"/>
              <a:buChar char="●"/>
            </a:pPr>
            <a:r>
              <a:rPr lang="en-US" sz="1000">
                <a:latin typeface="Calibri"/>
                <a:ea typeface="Calibri"/>
                <a:cs typeface="Calibri"/>
                <a:sym typeface="Calibri"/>
              </a:rPr>
              <a:t>Cloud data warehouse. provided scalable storage for cross-table analysis.</a:t>
            </a:r>
            <a:r>
              <a:rPr lang="en-US" sz="1000">
                <a:solidFill>
                  <a:srgbClr val="1A1A2E"/>
                </a:solidFill>
                <a:latin typeface="Calibri"/>
                <a:ea typeface="Calibri"/>
                <a:cs typeface="Calibri"/>
                <a:sym typeface="Calibri"/>
              </a:rPr>
              <a:t> </a:t>
            </a:r>
            <a:r>
              <a:rPr i="0" lang="en-US" sz="1000" u="none" cap="none" strike="noStrike">
                <a:solidFill>
                  <a:srgbClr val="1A1A2E"/>
                </a:solidFill>
                <a:latin typeface="Calibri"/>
                <a:ea typeface="Calibri"/>
                <a:cs typeface="Calibri"/>
                <a:sym typeface="Calibri"/>
              </a:rPr>
              <a:t>Serverless, auto-scaling, pay-per-query; native dbt &amp; Dagster integrations</a:t>
            </a:r>
            <a:r>
              <a:rPr lang="en-US" sz="1000">
                <a:solidFill>
                  <a:srgbClr val="1A1A2E"/>
                </a:solidFill>
                <a:latin typeface="Calibri"/>
                <a:ea typeface="Calibri"/>
                <a:cs typeface="Calibri"/>
                <a:sym typeface="Calibri"/>
              </a:rPr>
              <a:t>. </a:t>
            </a:r>
            <a:r>
              <a:rPr lang="en-US" sz="1000">
                <a:solidFill>
                  <a:schemeClr val="dk1"/>
                </a:solidFill>
                <a:latin typeface="Calibri"/>
                <a:ea typeface="Calibri"/>
                <a:cs typeface="Calibri"/>
                <a:sym typeface="Calibri"/>
              </a:rPr>
              <a:t>Stored raw tables (raw_oil_prices, raw_geo_events) and served as the central data store</a:t>
            </a:r>
            <a:endParaRPr sz="1000">
              <a:solidFill>
                <a:srgbClr val="1A1A2E"/>
              </a:solidFill>
              <a:latin typeface="Calibri"/>
              <a:ea typeface="Calibri"/>
              <a:cs typeface="Calibri"/>
              <a:sym typeface="Calibri"/>
            </a:endParaRPr>
          </a:p>
        </p:txBody>
      </p:sp>
      <p:sp>
        <p:nvSpPr>
          <p:cNvPr id="204" name="Google Shape;204;p9"/>
          <p:cNvSpPr/>
          <p:nvPr/>
        </p:nvSpPr>
        <p:spPr>
          <a:xfrm>
            <a:off x="274320" y="2650852"/>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9"/>
          <p:cNvGrpSpPr/>
          <p:nvPr/>
        </p:nvGrpSpPr>
        <p:grpSpPr>
          <a:xfrm>
            <a:off x="274320" y="2804541"/>
            <a:ext cx="1234500" cy="435937"/>
            <a:chOff x="274320" y="2766441"/>
            <a:chExt cx="1234500" cy="435937"/>
          </a:xfrm>
        </p:grpSpPr>
        <p:sp>
          <p:nvSpPr>
            <p:cNvPr id="206" name="Google Shape;206;p9"/>
            <p:cNvSpPr/>
            <p:nvPr/>
          </p:nvSpPr>
          <p:spPr>
            <a:xfrm>
              <a:off x="274320" y="2766441"/>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274320" y="2781778"/>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Transform</a:t>
              </a:r>
              <a:endParaRPr b="0" i="0" sz="1000" u="none" cap="none" strike="noStrike">
                <a:solidFill>
                  <a:schemeClr val="dk1"/>
                </a:solidFill>
                <a:latin typeface="Calibri"/>
                <a:ea typeface="Calibri"/>
                <a:cs typeface="Calibri"/>
                <a:sym typeface="Calibri"/>
              </a:endParaRPr>
            </a:p>
          </p:txBody>
        </p:sp>
      </p:grpSp>
      <p:sp>
        <p:nvSpPr>
          <p:cNvPr id="208" name="Google Shape;208;p9"/>
          <p:cNvSpPr/>
          <p:nvPr/>
        </p:nvSpPr>
        <p:spPr>
          <a:xfrm>
            <a:off x="1645920" y="2831592"/>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dbt</a:t>
            </a:r>
            <a:endParaRPr b="0" i="0" sz="1100" u="none" cap="none" strike="noStrike">
              <a:solidFill>
                <a:schemeClr val="dk1"/>
              </a:solidFill>
              <a:latin typeface="Calibri"/>
              <a:ea typeface="Calibri"/>
              <a:cs typeface="Calibri"/>
              <a:sym typeface="Calibri"/>
            </a:endParaRPr>
          </a:p>
        </p:txBody>
      </p:sp>
      <p:sp>
        <p:nvSpPr>
          <p:cNvPr id="209" name="Google Shape;209;p9"/>
          <p:cNvSpPr/>
          <p:nvPr/>
        </p:nvSpPr>
        <p:spPr>
          <a:xfrm>
            <a:off x="2613800" y="2765475"/>
            <a:ext cx="6381600" cy="420600"/>
          </a:xfrm>
          <a:prstGeom prst="rect">
            <a:avLst/>
          </a:prstGeom>
          <a:noFill/>
          <a:ln>
            <a:noFill/>
          </a:ln>
        </p:spPr>
        <p:txBody>
          <a:bodyPr anchorCtr="0" anchor="ctr" bIns="0" lIns="0" spcFirstLastPara="1" rIns="0" wrap="square" tIns="0">
            <a:noAutofit/>
          </a:bodyPr>
          <a:lstStyle/>
          <a:p>
            <a:pPr indent="-292100" lvl="0" marL="457200" marR="0" rtl="0" algn="l">
              <a:spcBef>
                <a:spcPts val="0"/>
              </a:spcBef>
              <a:spcAft>
                <a:spcPts val="0"/>
              </a:spcAft>
              <a:buClr>
                <a:srgbClr val="1A1A2E"/>
              </a:buClr>
              <a:buSzPts val="1000"/>
              <a:buFont typeface="Calibri"/>
              <a:buChar char="●"/>
            </a:pPr>
            <a:r>
              <a:rPr i="0" lang="en-US" sz="1000" u="none" cap="none" strike="noStrike">
                <a:solidFill>
                  <a:srgbClr val="1A1A2E"/>
                </a:solidFill>
                <a:latin typeface="Calibri"/>
                <a:ea typeface="Calibri"/>
                <a:cs typeface="Calibri"/>
                <a:sym typeface="Calibri"/>
              </a:rPr>
              <a:t>SQL-based; ref() for dependency management; built-in testing, docs, and lineage DAGs. </a:t>
            </a:r>
            <a:r>
              <a:rPr lang="en-US" sz="1000">
                <a:latin typeface="Calibri"/>
                <a:ea typeface="Calibri"/>
                <a:cs typeface="Calibri"/>
                <a:sym typeface="Calibri"/>
              </a:rPr>
              <a:t>Data transformation. enforced data consistency and created the analytical join</a:t>
            </a:r>
            <a:r>
              <a:rPr lang="en-US" sz="1100">
                <a:latin typeface="Calibri"/>
                <a:ea typeface="Calibri"/>
                <a:cs typeface="Calibri"/>
                <a:sym typeface="Calibri"/>
              </a:rPr>
              <a:t>Created cleaned staging views and a joined mart table (mart_oil_geopolitics) combining oil prices with geopolitical events by date</a:t>
            </a:r>
            <a:endParaRPr sz="1100">
              <a:latin typeface="Calibri"/>
              <a:ea typeface="Calibri"/>
              <a:cs typeface="Calibri"/>
              <a:sym typeface="Calibri"/>
            </a:endParaRPr>
          </a:p>
          <a:p>
            <a:pPr indent="-292100" lvl="0" marL="457200" marR="0" rtl="0" algn="l">
              <a:spcBef>
                <a:spcPts val="0"/>
              </a:spcBef>
              <a:spcAft>
                <a:spcPts val="0"/>
              </a:spcAft>
              <a:buClr>
                <a:srgbClr val="1A1A2E"/>
              </a:buClr>
              <a:buSzPts val="1000"/>
              <a:buFont typeface="Calibri"/>
              <a:buChar char="●"/>
            </a:pPr>
            <a:r>
              <a:rPr lang="en-US" sz="1000">
                <a:latin typeface="Calibri"/>
                <a:ea typeface="Calibri"/>
                <a:cs typeface="Calibri"/>
                <a:sym typeface="Calibri"/>
              </a:rPr>
              <a:t> that unlocked findings 1, 3, and 4.</a:t>
            </a:r>
            <a:endParaRPr sz="1050">
              <a:solidFill>
                <a:srgbClr val="1A1A2E"/>
              </a:solidFill>
              <a:latin typeface="Calibri"/>
              <a:ea typeface="Calibri"/>
              <a:cs typeface="Calibri"/>
              <a:sym typeface="Calibri"/>
            </a:endParaRPr>
          </a:p>
        </p:txBody>
      </p:sp>
      <p:sp>
        <p:nvSpPr>
          <p:cNvPr id="210" name="Google Shape;210;p9"/>
          <p:cNvSpPr/>
          <p:nvPr/>
        </p:nvSpPr>
        <p:spPr>
          <a:xfrm>
            <a:off x="274320" y="3344560"/>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274320" y="3866388"/>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274320" y="3985260"/>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274320" y="3960279"/>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Orchestration</a:t>
            </a:r>
            <a:endParaRPr b="0" i="0" sz="1000" u="none" cap="none" strike="noStrike">
              <a:solidFill>
                <a:schemeClr val="dk1"/>
              </a:solidFill>
              <a:latin typeface="Calibri"/>
              <a:ea typeface="Calibri"/>
              <a:cs typeface="Calibri"/>
              <a:sym typeface="Calibri"/>
            </a:endParaRPr>
          </a:p>
        </p:txBody>
      </p:sp>
      <p:sp>
        <p:nvSpPr>
          <p:cNvPr id="214" name="Google Shape;214;p9"/>
          <p:cNvSpPr/>
          <p:nvPr/>
        </p:nvSpPr>
        <p:spPr>
          <a:xfrm>
            <a:off x="1645920" y="4054005"/>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Dagster</a:t>
            </a:r>
            <a:endParaRPr b="0" i="0" sz="1100" u="none" cap="none" strike="noStrike">
              <a:solidFill>
                <a:schemeClr val="dk1"/>
              </a:solidFill>
              <a:latin typeface="Calibri"/>
              <a:ea typeface="Calibri"/>
              <a:cs typeface="Calibri"/>
              <a:sym typeface="Calibri"/>
            </a:endParaRPr>
          </a:p>
        </p:txBody>
      </p:sp>
      <p:sp>
        <p:nvSpPr>
          <p:cNvPr id="215" name="Google Shape;215;p9"/>
          <p:cNvSpPr/>
          <p:nvPr/>
        </p:nvSpPr>
        <p:spPr>
          <a:xfrm>
            <a:off x="274320" y="4442460"/>
            <a:ext cx="8595300" cy="9000"/>
          </a:xfrm>
          <a:prstGeom prst="rect">
            <a:avLst/>
          </a:prstGeom>
          <a:solidFill>
            <a:srgbClr val="E2E8F0"/>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274320" y="4561332"/>
            <a:ext cx="1234500" cy="420600"/>
          </a:xfrm>
          <a:prstGeom prst="rect">
            <a:avLst/>
          </a:prstGeom>
          <a:solidFill>
            <a:srgbClr val="0F3460"/>
          </a:solidFill>
          <a:ln>
            <a:noFill/>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274320" y="4580382"/>
            <a:ext cx="12345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Analysis</a:t>
            </a:r>
            <a:endParaRPr b="0" i="0" sz="1000" u="none" cap="none" strike="noStrike">
              <a:solidFill>
                <a:schemeClr val="dk1"/>
              </a:solidFill>
              <a:latin typeface="Calibri"/>
              <a:ea typeface="Calibri"/>
              <a:cs typeface="Calibri"/>
              <a:sym typeface="Calibri"/>
            </a:endParaRPr>
          </a:p>
        </p:txBody>
      </p:sp>
      <p:sp>
        <p:nvSpPr>
          <p:cNvPr id="218" name="Google Shape;218;p9"/>
          <p:cNvSpPr/>
          <p:nvPr/>
        </p:nvSpPr>
        <p:spPr>
          <a:xfrm>
            <a:off x="1645920" y="4664583"/>
            <a:ext cx="16458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3460"/>
              </a:buClr>
              <a:buSzPts val="1100"/>
              <a:buFont typeface="Calibri"/>
              <a:buNone/>
            </a:pPr>
            <a:r>
              <a:rPr b="1" i="0" lang="en-US" sz="1100" u="none" cap="none" strike="noStrike">
                <a:solidFill>
                  <a:srgbClr val="0F3460"/>
                </a:solidFill>
                <a:latin typeface="Calibri"/>
                <a:ea typeface="Calibri"/>
                <a:cs typeface="Calibri"/>
                <a:sym typeface="Calibri"/>
              </a:rPr>
              <a:t>Jupyter + Power BI</a:t>
            </a:r>
            <a:endParaRPr b="0" i="0" sz="1100" u="none" cap="none" strike="noStrike">
              <a:solidFill>
                <a:schemeClr val="dk1"/>
              </a:solidFill>
              <a:latin typeface="Calibri"/>
              <a:ea typeface="Calibri"/>
              <a:cs typeface="Calibri"/>
              <a:sym typeface="Calibri"/>
            </a:endParaRPr>
          </a:p>
        </p:txBody>
      </p:sp>
      <p:sp>
        <p:nvSpPr>
          <p:cNvPr id="219" name="Google Shape;219;p9"/>
          <p:cNvSpPr/>
          <p:nvPr/>
        </p:nvSpPr>
        <p:spPr>
          <a:xfrm>
            <a:off x="2613800" y="4664583"/>
            <a:ext cx="5394900" cy="384000"/>
          </a:xfrm>
          <a:prstGeom prst="rect">
            <a:avLst/>
          </a:prstGeom>
          <a:noFill/>
          <a:ln>
            <a:noFill/>
          </a:ln>
        </p:spPr>
        <p:txBody>
          <a:bodyPr anchorCtr="0" anchor="ctr" bIns="0" lIns="0" spcFirstLastPara="1" rIns="0" wrap="square" tIns="0">
            <a:noAutofit/>
          </a:bodyPr>
          <a:lstStyle/>
          <a:p>
            <a:pPr indent="-295275" lvl="0" marL="457200" marR="0" rtl="0" algn="l">
              <a:spcBef>
                <a:spcPts val="0"/>
              </a:spcBef>
              <a:spcAft>
                <a:spcPts val="0"/>
              </a:spcAft>
              <a:buClr>
                <a:srgbClr val="1A1A2E"/>
              </a:buClr>
              <a:buSzPts val="1050"/>
              <a:buFont typeface="Calibri"/>
              <a:buChar char="●"/>
            </a:pPr>
            <a:r>
              <a:rPr b="0" i="0" lang="en-US" sz="1050" u="none" cap="none" strike="noStrike">
                <a:solidFill>
                  <a:srgbClr val="1A1A2E"/>
                </a:solidFill>
                <a:latin typeface="Calibri"/>
                <a:ea typeface="Calibri"/>
                <a:cs typeface="Calibri"/>
                <a:sym typeface="Calibri"/>
              </a:rPr>
              <a:t>Jupyter for deep EDA; Power BI for executive dashboards and self-serve analytics</a:t>
            </a:r>
            <a:endParaRPr b="0" i="0" sz="1050" u="none" cap="none" strike="noStrike">
              <a:solidFill>
                <a:schemeClr val="dk1"/>
              </a:solidFill>
              <a:latin typeface="Calibri"/>
              <a:ea typeface="Calibri"/>
              <a:cs typeface="Calibri"/>
              <a:sym typeface="Calibri"/>
            </a:endParaRPr>
          </a:p>
        </p:txBody>
      </p:sp>
      <p:sp>
        <p:nvSpPr>
          <p:cNvPr id="220" name="Google Shape;220;p9"/>
          <p:cNvSpPr/>
          <p:nvPr/>
        </p:nvSpPr>
        <p:spPr>
          <a:xfrm>
            <a:off x="2649950" y="4011894"/>
            <a:ext cx="6461700" cy="384000"/>
          </a:xfrm>
          <a:prstGeom prst="rect">
            <a:avLst/>
          </a:prstGeom>
          <a:noFill/>
          <a:ln>
            <a:noFill/>
          </a:ln>
        </p:spPr>
        <p:txBody>
          <a:bodyPr anchorCtr="0" anchor="ctr" bIns="0" lIns="0" spcFirstLastPara="1" rIns="0" wrap="square" tIns="0">
            <a:noAutofit/>
          </a:bodyPr>
          <a:lstStyle/>
          <a:p>
            <a:pPr indent="-292100" lvl="0" marL="457200" marR="0" rtl="0" algn="l">
              <a:spcBef>
                <a:spcPts val="0"/>
              </a:spcBef>
              <a:spcAft>
                <a:spcPts val="0"/>
              </a:spcAft>
              <a:buSzPts val="1000"/>
              <a:buFont typeface="Calibri"/>
              <a:buChar char="●"/>
            </a:pPr>
            <a:r>
              <a:rPr lang="en-US" sz="1000">
                <a:solidFill>
                  <a:schemeClr val="dk1"/>
                </a:solidFill>
                <a:latin typeface="Calibri"/>
                <a:ea typeface="Calibri"/>
                <a:cs typeface="Calibri"/>
                <a:sym typeface="Calibri"/>
              </a:rPr>
              <a:t>Orchestration. </a:t>
            </a:r>
            <a:r>
              <a:rPr lang="en-US" sz="1000">
                <a:latin typeface="Calibri"/>
                <a:ea typeface="Calibri"/>
                <a:cs typeface="Calibri"/>
                <a:sym typeface="Calibri"/>
              </a:rPr>
              <a:t>Ran the full pipeline end-to-end as a DAG — Meltano EL first, then dbt transformations, with visual asset tracking</a:t>
            </a:r>
            <a:endParaRPr sz="1000">
              <a:latin typeface="Calibri"/>
              <a:ea typeface="Calibri"/>
              <a:cs typeface="Calibri"/>
              <a:sym typeface="Calibri"/>
            </a:endParaRPr>
          </a:p>
          <a:p>
            <a:pPr indent="-292100" lvl="0" marL="457200" marR="0" rtl="0" algn="l">
              <a:spcBef>
                <a:spcPts val="0"/>
              </a:spcBef>
              <a:spcAft>
                <a:spcPts val="0"/>
              </a:spcAft>
              <a:buClr>
                <a:srgbClr val="1A1A2E"/>
              </a:buClr>
              <a:buSzPts val="1000"/>
              <a:buFont typeface="Calibri"/>
              <a:buChar char="●"/>
            </a:pPr>
            <a:r>
              <a:rPr i="0" lang="en-US" sz="1000" u="none" cap="none" strike="noStrike">
                <a:solidFill>
                  <a:srgbClr val="1A1A2E"/>
                </a:solidFill>
                <a:latin typeface="Calibri"/>
                <a:ea typeface="Calibri"/>
                <a:cs typeface="Calibri"/>
                <a:sym typeface="Calibri"/>
              </a:rPr>
              <a:t>Software-defined assets; visual DAG UI; native dbt + Meltano integrations; schedules + sensors</a:t>
            </a:r>
            <a:endParaRPr i="0" sz="1000" u="none" cap="none" strike="noStrike">
              <a:solidFill>
                <a:schemeClr val="dk1"/>
              </a:solidFill>
              <a:latin typeface="Calibri"/>
              <a:ea typeface="Calibri"/>
              <a:cs typeface="Calibri"/>
              <a:sym typeface="Calibri"/>
            </a:endParaRPr>
          </a:p>
        </p:txBody>
      </p:sp>
      <p:sp>
        <p:nvSpPr>
          <p:cNvPr id="221" name="Google Shape;221;p9"/>
          <p:cNvSpPr/>
          <p:nvPr/>
        </p:nvSpPr>
        <p:spPr>
          <a:xfrm>
            <a:off x="8412480" y="4800600"/>
            <a:ext cx="548640" cy="2286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9 / 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6" name="Shape 226"/>
        <p:cNvGrpSpPr/>
        <p:nvPr/>
      </p:nvGrpSpPr>
      <p:grpSpPr>
        <a:xfrm>
          <a:off x="0" y="0"/>
          <a:ext cx="0" cy="0"/>
          <a:chOff x="0" y="0"/>
          <a:chExt cx="0" cy="0"/>
        </a:xfrm>
      </p:grpSpPr>
      <p:sp>
        <p:nvSpPr>
          <p:cNvPr id="227" name="Google Shape;227;g3dc9337976c_0_34"/>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dc9337976c_0_34"/>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sp>
        <p:nvSpPr>
          <p:cNvPr id="229" name="Google Shape;229;g3dc9337976c_0_34"/>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graphicFrame>
        <p:nvGraphicFramePr>
          <p:cNvPr id="230" name="Google Shape;230;g3dc9337976c_0_34"/>
          <p:cNvGraphicFramePr/>
          <p:nvPr/>
        </p:nvGraphicFramePr>
        <p:xfrm>
          <a:off x="139027" y="797642"/>
          <a:ext cx="3000000" cy="3000000"/>
        </p:xfrm>
        <a:graphic>
          <a:graphicData uri="http://schemas.openxmlformats.org/drawingml/2006/table">
            <a:tbl>
              <a:tblPr>
                <a:noFill/>
                <a:tableStyleId>{638AE3AB-65F7-4BB3-BCFA-9C31ED48BC52}</a:tableStyleId>
              </a:tblPr>
              <a:tblGrid>
                <a:gridCol w="1044400"/>
                <a:gridCol w="805325"/>
                <a:gridCol w="1761625"/>
                <a:gridCol w="4353725"/>
              </a:tblGrid>
              <a:tr h="43290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a:t>
                      </a:r>
                      <a:r>
                        <a:rPr b="1" lang="en-US" sz="1100">
                          <a:solidFill>
                            <a:schemeClr val="dk1"/>
                          </a:solidFill>
                          <a:latin typeface="Calibri"/>
                          <a:ea typeface="Calibri"/>
                          <a:cs typeface="Calibri"/>
                          <a:sym typeface="Calibri"/>
                        </a:rPr>
                        <a:t> Header</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dates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Every row must have a date for time series analysis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duplicate dates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Duplicate dates would skew price averages and correlations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3935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Brent prices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Missing prices break the line chart and correlation heatmap</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WTI prices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Same — both price series must be complete</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vix</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VIX values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3 (VIX vs Brent) requires complete VIX data</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r h="216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gpr_index</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No missing GPR values</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Finding 4 (GPR leads spikes) requires complete GPR data</a:t>
                      </a:r>
                      <a:endParaRPr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tcPr>
                </a:tc>
              </a:tr>
            </a:tbl>
          </a:graphicData>
        </a:graphic>
      </p:graphicFrame>
      <p:graphicFrame>
        <p:nvGraphicFramePr>
          <p:cNvPr id="231" name="Google Shape;231;g3dc9337976c_0_34"/>
          <p:cNvGraphicFramePr/>
          <p:nvPr/>
        </p:nvGraphicFramePr>
        <p:xfrm>
          <a:off x="139037" y="3124477"/>
          <a:ext cx="3000000" cy="3000000"/>
        </p:xfrm>
        <a:graphic>
          <a:graphicData uri="http://schemas.openxmlformats.org/drawingml/2006/table">
            <a:tbl>
              <a:tblPr>
                <a:noFill/>
                <a:tableStyleId>{638AE3AB-65F7-4BB3-BCFA-9C31ED48BC52}</a:tableStyleId>
              </a:tblPr>
              <a:tblGrid>
                <a:gridCol w="981075"/>
                <a:gridCol w="1038225"/>
                <a:gridCol w="1733550"/>
                <a:gridCol w="3400425"/>
              </a:tblGrid>
              <a:tr h="209550">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Column Header</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Test</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b="1" lang="en-US" sz="1100">
                          <a:solidFill>
                            <a:schemeClr val="dk1"/>
                          </a:solidFill>
                          <a:latin typeface="Calibri"/>
                          <a:ea typeface="Calibri"/>
                          <a:cs typeface="Calibri"/>
                          <a:sym typeface="Calibri"/>
                        </a:rPr>
                        <a:t>Validation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c>
                  <a:txBody>
                    <a:bodyPr/>
                    <a:lstStyle/>
                    <a:p>
                      <a:pPr indent="0" lvl="0" marL="0" rtl="0" algn="ctr">
                        <a:lnSpc>
                          <a:spcPct val="115000"/>
                        </a:lnSpc>
                        <a:spcBef>
                          <a:spcPts val="0"/>
                        </a:spcBef>
                        <a:spcAft>
                          <a:spcPts val="0"/>
                        </a:spcAft>
                        <a:buNone/>
                      </a:pPr>
                      <a:r>
                        <a:rPr b="1" lang="en-US" sz="1100">
                          <a:solidFill>
                            <a:schemeClr val="dk1"/>
                          </a:solidFill>
                          <a:latin typeface="Calibri"/>
                          <a:ea typeface="Calibri"/>
                          <a:cs typeface="Calibri"/>
                          <a:sym typeface="Calibri"/>
                        </a:rPr>
                        <a:t>Description</a:t>
                      </a:r>
                      <a:endParaRPr b="1" sz="1100">
                        <a:solidFill>
                          <a:schemeClr val="dk1"/>
                        </a:solidFill>
                        <a:latin typeface="Calibri"/>
                        <a:ea typeface="Calibri"/>
                        <a:cs typeface="Calibri"/>
                        <a:sym typeface="Calibri"/>
                      </a:endParaRPr>
                    </a:p>
                  </a:txBody>
                  <a:tcPr marT="19050" marB="19050" marR="19050" marL="19050">
                    <a:lnL cap="flat" cmpd="sng" w="19050">
                      <a:solidFill>
                        <a:srgbClr val="666666"/>
                      </a:solidFill>
                      <a:prstDash val="solid"/>
                      <a:round/>
                      <a:headEnd len="sm" w="sm" type="none"/>
                      <a:tailEnd len="sm" w="sm" type="none"/>
                    </a:lnL>
                    <a:lnR cap="flat" cmpd="sng" w="19050">
                      <a:solidFill>
                        <a:srgbClr val="666666"/>
                      </a:solidFill>
                      <a:prstDash val="solid"/>
                      <a:round/>
                      <a:headEnd len="sm" w="sm" type="none"/>
                      <a:tailEnd len="sm" w="sm" type="none"/>
                    </a:lnR>
                    <a:lnT cap="flat" cmpd="sng" w="19050">
                      <a:solidFill>
                        <a:srgbClr val="666666"/>
                      </a:solidFill>
                      <a:prstDash val="solid"/>
                      <a:round/>
                      <a:headEnd len="sm" w="sm" type="none"/>
                      <a:tailEnd len="sm" w="sm" type="none"/>
                    </a:lnT>
                    <a:lnB cap="flat" cmpd="sng" w="19050">
                      <a:solidFill>
                        <a:srgbClr val="666666"/>
                      </a:solidFill>
                      <a:prstDash val="solid"/>
                      <a:round/>
                      <a:headEnd len="sm" w="sm" type="none"/>
                      <a:tailEnd len="sm" w="sm" type="none"/>
                    </a:lnB>
                    <a:solidFill>
                      <a:srgbClr val="CFE2F3"/>
                    </a:solidFill>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No missing event dates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Events without dates cannot be joined to oil prices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19050">
                      <a:solidFill>
                        <a:srgbClr val="666666"/>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date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unique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One event per date</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Prevents duplicate event markers on the price chart</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All events are categorised</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Needed for Power BI event type filter</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event_type</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accepted_values</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Only valid event categories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Prevents misspelled or inconsistent categories breaking filters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event_severity</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900">
                          <a:solidFill>
                            <a:schemeClr val="dk1"/>
                          </a:solidFill>
                          <a:latin typeface="Roboto Mono"/>
                          <a:ea typeface="Roboto Mono"/>
                          <a:cs typeface="Roboto Mono"/>
                          <a:sym typeface="Roboto Mono"/>
                        </a:rPr>
                        <a:t>not_null</a:t>
                      </a:r>
                      <a:endParaRPr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All events have a severity score</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Roboto"/>
                          <a:ea typeface="Roboto"/>
                          <a:cs typeface="Roboto"/>
                          <a:sym typeface="Roboto"/>
                        </a:rPr>
                        <a:t>Severity is used for filtering and colour coding in visuals</a:t>
                      </a:r>
                      <a:endParaRPr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36" name="Shape 236"/>
        <p:cNvGrpSpPr/>
        <p:nvPr/>
      </p:nvGrpSpPr>
      <p:grpSpPr>
        <a:xfrm>
          <a:off x="0" y="0"/>
          <a:ext cx="0" cy="0"/>
          <a:chOff x="0" y="0"/>
          <a:chExt cx="0" cy="0"/>
        </a:xfrm>
      </p:grpSpPr>
      <p:sp>
        <p:nvSpPr>
          <p:cNvPr id="237" name="Google Shape;237;g3d26b78a17e_0_24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d26b78a17e_0_24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Test Cases</a:t>
            </a:r>
            <a:endParaRPr b="1" sz="2400">
              <a:solidFill>
                <a:srgbClr val="FFFFFF"/>
              </a:solidFill>
              <a:latin typeface="Calibri"/>
              <a:ea typeface="Calibri"/>
              <a:cs typeface="Calibri"/>
              <a:sym typeface="Calibri"/>
            </a:endParaRPr>
          </a:p>
        </p:txBody>
      </p:sp>
      <p:graphicFrame>
        <p:nvGraphicFramePr>
          <p:cNvPr id="239" name="Google Shape;239;g3d26b78a17e_0_242"/>
          <p:cNvGraphicFramePr/>
          <p:nvPr/>
        </p:nvGraphicFramePr>
        <p:xfrm>
          <a:off x="511263" y="672303"/>
          <a:ext cx="3000000" cy="3000000"/>
        </p:xfrm>
        <a:graphic>
          <a:graphicData uri="http://schemas.openxmlformats.org/drawingml/2006/table">
            <a:tbl>
              <a:tblPr>
                <a:noFill/>
                <a:tableStyleId>{638AE3AB-65F7-4BB3-BCFA-9C31ED48BC52}</a:tableStyleId>
              </a:tblPr>
              <a:tblGrid>
                <a:gridCol w="912275"/>
                <a:gridCol w="703450"/>
                <a:gridCol w="2011425"/>
                <a:gridCol w="3857975"/>
              </a:tblGrid>
              <a:tr h="227000">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Column</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Test</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What it checks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c>
                  <a:txBody>
                    <a:bodyPr/>
                    <a:lstStyle/>
                    <a:p>
                      <a:pPr indent="0" lvl="0" marL="0" rtl="0" algn="ctr">
                        <a:lnSpc>
                          <a:spcPct val="115000"/>
                        </a:lnSpc>
                        <a:spcBef>
                          <a:spcPts val="0"/>
                        </a:spcBef>
                        <a:spcAft>
                          <a:spcPts val="0"/>
                        </a:spcAft>
                        <a:buNone/>
                      </a:pPr>
                      <a:r>
                        <a:rPr b="1" lang="en-US" sz="1000">
                          <a:solidFill>
                            <a:schemeClr val="dk1"/>
                          </a:solidFill>
                          <a:latin typeface="Calibri"/>
                          <a:ea typeface="Calibri"/>
                          <a:cs typeface="Calibri"/>
                          <a:sym typeface="Calibri"/>
                        </a:rPr>
                        <a:t>Why it matters</a:t>
                      </a:r>
                      <a:endParaRPr b="1"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solidFill>
                      <a:srgbClr val="9FC5E8"/>
                    </a:solidFill>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missing dates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The mart is the final analytical table — must be clean</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2270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date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unique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 duplicate rows in mart</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JOIN could produce duplicates if source data had issues</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37145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brent_price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Confirms the staging-to-mart transformation preserved data</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r h="402400">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wti_price</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not_null</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Prices carried through correctly</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US" sz="1000">
                          <a:solidFill>
                            <a:schemeClr val="dk1"/>
                          </a:solidFill>
                          <a:latin typeface="Calibri"/>
                          <a:ea typeface="Calibri"/>
                          <a:cs typeface="Calibri"/>
                          <a:sym typeface="Calibri"/>
                        </a:rPr>
                        <a:t>Same as above</a:t>
                      </a:r>
                      <a:endParaRPr sz="1000">
                        <a:solidFill>
                          <a:schemeClr val="dk1"/>
                        </a:solidFill>
                        <a:latin typeface="Calibri"/>
                        <a:ea typeface="Calibri"/>
                        <a:cs typeface="Calibri"/>
                        <a:sym typeface="Calibri"/>
                      </a:endParaRPr>
                    </a:p>
                    <a:p>
                      <a:pPr indent="0" lvl="0" marL="0" rtl="0" algn="l">
                        <a:spcBef>
                          <a:spcPts val="0"/>
                        </a:spcBef>
                        <a:spcAft>
                          <a:spcPts val="0"/>
                        </a:spcAft>
                        <a:buNone/>
                      </a:pPr>
                      <a:r>
                        <a:t/>
                      </a:r>
                      <a:endParaRPr sz="1000">
                        <a:solidFill>
                          <a:schemeClr val="dk1"/>
                        </a:solidFill>
                        <a:latin typeface="Calibri"/>
                        <a:ea typeface="Calibri"/>
                        <a:cs typeface="Calibri"/>
                        <a:sym typeface="Calibri"/>
                      </a:endParaRPr>
                    </a:p>
                  </a:txBody>
                  <a:tcPr marT="19050" marB="19050" marR="19050" marL="19050">
                    <a:lnL cap="flat" cmpd="sng" w="6100">
                      <a:solidFill>
                        <a:srgbClr val="666666"/>
                      </a:solidFill>
                      <a:prstDash val="solid"/>
                      <a:round/>
                      <a:headEnd len="sm" w="sm" type="none"/>
                      <a:tailEnd len="sm" w="sm" type="none"/>
                    </a:lnL>
                    <a:lnR cap="flat" cmpd="sng" w="6100">
                      <a:solidFill>
                        <a:srgbClr val="666666"/>
                      </a:solidFill>
                      <a:prstDash val="solid"/>
                      <a:round/>
                      <a:headEnd len="sm" w="sm" type="none"/>
                      <a:tailEnd len="sm" w="sm" type="none"/>
                    </a:lnR>
                    <a:lnT cap="flat" cmpd="sng" w="6100">
                      <a:solidFill>
                        <a:srgbClr val="666666"/>
                      </a:solidFill>
                      <a:prstDash val="solid"/>
                      <a:round/>
                      <a:headEnd len="sm" w="sm" type="none"/>
                      <a:tailEnd len="sm" w="sm" type="none"/>
                    </a:lnT>
                    <a:lnB cap="flat" cmpd="sng" w="6100">
                      <a:solidFill>
                        <a:srgbClr val="666666"/>
                      </a:solidFill>
                      <a:prstDash val="solid"/>
                      <a:round/>
                      <a:headEnd len="sm" w="sm" type="none"/>
                      <a:tailEnd len="sm" w="sm" type="none"/>
                    </a:lnB>
                  </a:tcPr>
                </a:tc>
              </a:tr>
            </a:tbl>
          </a:graphicData>
        </a:graphic>
      </p:graphicFrame>
      <p:graphicFrame>
        <p:nvGraphicFramePr>
          <p:cNvPr id="240" name="Google Shape;240;g3d26b78a17e_0_242"/>
          <p:cNvGraphicFramePr/>
          <p:nvPr/>
        </p:nvGraphicFramePr>
        <p:xfrm>
          <a:off x="5237525" y="2595125"/>
          <a:ext cx="3000000" cy="3000000"/>
        </p:xfrm>
        <a:graphic>
          <a:graphicData uri="http://schemas.openxmlformats.org/drawingml/2006/table">
            <a:tbl>
              <a:tblPr>
                <a:noFill/>
                <a:tableStyleId>{638AE3AB-65F7-4BB3-BCFA-9C31ED48BC52}</a:tableStyleId>
              </a:tblPr>
              <a:tblGrid>
                <a:gridCol w="839675"/>
                <a:gridCol w="1697225"/>
                <a:gridCol w="333500"/>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Model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Tests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Result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stg_oil_prices</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not_null: date, brent, wti, vix, gpr / unique: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6/6 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stg_geo_events</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not_null: date, event_type, severity / unique: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4/4 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mart_oil_geopolitics</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not_null: date, brent, wti / unique: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4/4 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graphicFrame>
        <p:nvGraphicFramePr>
          <p:cNvPr id="241" name="Google Shape;241;g3d26b78a17e_0_242"/>
          <p:cNvGraphicFramePr/>
          <p:nvPr/>
        </p:nvGraphicFramePr>
        <p:xfrm>
          <a:off x="511275" y="2424900"/>
          <a:ext cx="3000000" cy="3000000"/>
        </p:xfrm>
        <a:graphic>
          <a:graphicData uri="http://schemas.openxmlformats.org/drawingml/2006/table">
            <a:tbl>
              <a:tblPr>
                <a:noFill/>
                <a:tableStyleId>{638AE3AB-65F7-4BB3-BCFA-9C31ED48BC52}</a:tableStyleId>
              </a:tblPr>
              <a:tblGrid>
                <a:gridCol w="1200200"/>
                <a:gridCol w="2510975"/>
                <a:gridCol w="663275"/>
              </a:tblGrid>
              <a:tr h="472575">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Component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Validation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Result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DuckDB</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Row counts (4047 + 35)</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Meltano</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Version + tap-csv</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BigQuery</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Raw tables + dbt views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4253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dbt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Connection + 14 data tests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GCP Auth</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ADC credentials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Dagster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Assets materialized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59925">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Jupyter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Connected + data loaded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PASS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6" name="Shape 246"/>
        <p:cNvGrpSpPr/>
        <p:nvPr/>
      </p:nvGrpSpPr>
      <p:grpSpPr>
        <a:xfrm>
          <a:off x="0" y="0"/>
          <a:ext cx="0" cy="0"/>
          <a:chOff x="0" y="0"/>
          <a:chExt cx="0" cy="0"/>
        </a:xfrm>
      </p:grpSpPr>
      <p:sp>
        <p:nvSpPr>
          <p:cNvPr id="247" name="Google Shape;247;g3d26b78a17e_0_252"/>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d26b78a17e_0_252"/>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Key Challenges</a:t>
            </a:r>
            <a:endParaRPr b="1" sz="2400">
              <a:solidFill>
                <a:srgbClr val="FFFFFF"/>
              </a:solidFill>
              <a:latin typeface="Calibri"/>
              <a:ea typeface="Calibri"/>
              <a:cs typeface="Calibri"/>
              <a:sym typeface="Calibri"/>
            </a:endParaRPr>
          </a:p>
        </p:txBody>
      </p:sp>
      <p:sp>
        <p:nvSpPr>
          <p:cNvPr id="249" name="Google Shape;249;g3d26b78a17e_0_252"/>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50" name="Google Shape;250;g3d26b78a17e_0_252"/>
          <p:cNvSpPr txBox="1"/>
          <p:nvPr/>
        </p:nvSpPr>
        <p:spPr>
          <a:xfrm>
            <a:off x="270550" y="443775"/>
            <a:ext cx="8873400" cy="432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latin typeface="Calibri"/>
              <a:ea typeface="Calibri"/>
              <a:cs typeface="Calibri"/>
              <a:sym typeface="Calibri"/>
            </a:endParaRPr>
          </a:p>
          <a:p>
            <a:pPr indent="-304800" lvl="0" marL="457200" rtl="0" algn="l">
              <a:spcBef>
                <a:spcPts val="0"/>
              </a:spcBef>
              <a:spcAft>
                <a:spcPts val="0"/>
              </a:spcAft>
              <a:buSzPts val="1200"/>
              <a:buAutoNum type="arabicPeriod"/>
            </a:pPr>
            <a:r>
              <a:rPr b="1" lang="en-US" sz="1200">
                <a:latin typeface="Calibri"/>
                <a:ea typeface="Calibri"/>
                <a:cs typeface="Calibri"/>
                <a:sym typeface="Calibri"/>
              </a:rPr>
              <a:t>Python</a:t>
            </a:r>
            <a:r>
              <a:rPr lang="en-US" sz="1200">
                <a:latin typeface="Calibri"/>
                <a:ea typeface="Calibri"/>
                <a:cs typeface="Calibri"/>
                <a:sym typeface="Calibri"/>
              </a:rPr>
              <a:t> 3.13 </a:t>
            </a:r>
            <a:r>
              <a:rPr lang="en-US" sz="1200">
                <a:latin typeface="Calibri"/>
                <a:ea typeface="Calibri"/>
                <a:cs typeface="Calibri"/>
                <a:sym typeface="Calibri"/>
              </a:rPr>
              <a:t>compatibility</a:t>
            </a:r>
            <a:r>
              <a:rPr lang="en-US" sz="1200">
                <a:latin typeface="Calibri"/>
                <a:ea typeface="Calibri"/>
                <a:cs typeface="Calibri"/>
                <a:sym typeface="Calibri"/>
              </a:rPr>
              <a:t> issue- </a:t>
            </a:r>
            <a:r>
              <a:rPr lang="en-US" sz="1200">
                <a:solidFill>
                  <a:schemeClr val="dk1"/>
                </a:solidFill>
                <a:latin typeface="Calibri"/>
                <a:ea typeface="Calibri"/>
                <a:cs typeface="Calibri"/>
                <a:sym typeface="Calibri"/>
              </a:rPr>
              <a:t>Created a dedicated conda environment (meltano-env) with Python 3.11 inside WSL Ubuntu, which provided a stable Linux environment for all pipeline tools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OneDrive Path Causing WSL Disconnects- </a:t>
            </a:r>
            <a:r>
              <a:rPr lang="en-US" sz="1200">
                <a:solidFill>
                  <a:schemeClr val="dk1"/>
                </a:solidFill>
                <a:latin typeface="Calibri"/>
                <a:ea typeface="Calibri"/>
                <a:cs typeface="Calibri"/>
                <a:sym typeface="Calibri"/>
              </a:rPr>
              <a:t>Moved the entire Meltano project into the WSL home directory (~/meltano-ingestion/) to avoid OneDrive path conflicts.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Roboto"/>
              <a:buAutoNum type="arabicPeriod"/>
            </a:pPr>
            <a:r>
              <a:rPr b="1" lang="en-US" sz="1200">
                <a:solidFill>
                  <a:schemeClr val="dk1"/>
                </a:solidFill>
                <a:latin typeface="Calibri"/>
                <a:ea typeface="Calibri"/>
                <a:cs typeface="Calibri"/>
                <a:sym typeface="Calibri"/>
              </a:rPr>
              <a:t>GCP JSON Key Blocked</a:t>
            </a:r>
            <a:r>
              <a:rPr lang="en-US" sz="1200">
                <a:solidFill>
                  <a:schemeClr val="dk1"/>
                </a:solidFill>
                <a:latin typeface="Calibri"/>
                <a:ea typeface="Calibri"/>
                <a:cs typeface="Calibri"/>
                <a:sym typeface="Calibri"/>
              </a:rPr>
              <a:t> by Organisation Policy- Could not create a service account JSON key — blocked by a Google Cloud Organisation Policy restricting key creation. Used Application Default Credentials (ADC) via gcloud auth application-default login, then copied the credentials from Windows to WSL manually.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pkg_resources- “Module Not Found’ </a:t>
            </a:r>
            <a:r>
              <a:rPr lang="en-US" sz="1200">
                <a:solidFill>
                  <a:schemeClr val="dk1"/>
                </a:solidFill>
                <a:latin typeface="Calibri"/>
                <a:ea typeface="Calibri"/>
                <a:cs typeface="Calibri"/>
                <a:sym typeface="Calibri"/>
              </a:rPr>
              <a:t>target-bigquery loader failed on startup with ModuleNotFoundError: No module named 'pkg_resources' — a known issue where newer Python versions no longer bundle setuptools by default in virtual environments.Installed setuptools==69.5.1 directly into the target-bigquery venv using the venv's Python binary, restoring the pkg_resources module.</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Wrong Config Key Name:</a:t>
            </a:r>
            <a:r>
              <a:rPr lang="en-US" sz="1200">
                <a:solidFill>
                  <a:schemeClr val="dk1"/>
                </a:solidFill>
                <a:latin typeface="Calibri"/>
                <a:ea typeface="Calibri"/>
                <a:cs typeface="Calibri"/>
                <a:sym typeface="Calibri"/>
              </a:rPr>
              <a:t> Meltano pipeline ran but BigQuery rejected the config with KeyError: 'project' — the config had project_id but the z3z1ma variant expects project. Corrected the key name in meltano.yml from project_id to project.</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BigQuery Columns Not Flat (JSON Schema Mode): </a:t>
            </a:r>
            <a:r>
              <a:rPr lang="en-US" sz="1200">
                <a:solidFill>
                  <a:schemeClr val="dk1"/>
                </a:solidFill>
                <a:latin typeface="Calibri"/>
                <a:ea typeface="Calibri"/>
                <a:cs typeface="Calibri"/>
                <a:sym typeface="Calibri"/>
              </a:rPr>
              <a:t>dbt models failed with Unrecognized name: date — because target-bigquery defaults to storing records as a JSON blob in a data column rather than individual columns. Added denormalized: true and overwrite: true to the loader config and reloaded the data, producing flat, queryable columns in BigQuery.</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AutoNum type="arabicPeriod"/>
            </a:pPr>
            <a:r>
              <a:rPr b="1" lang="en-US" sz="1200">
                <a:solidFill>
                  <a:schemeClr val="dk1"/>
                </a:solidFill>
                <a:latin typeface="Calibri"/>
                <a:ea typeface="Calibri"/>
                <a:cs typeface="Calibri"/>
                <a:sym typeface="Calibri"/>
              </a:rPr>
              <a:t>Terminal Heredoc Corruption: </a:t>
            </a:r>
            <a:r>
              <a:rPr lang="en-US" sz="1200">
                <a:solidFill>
                  <a:schemeClr val="dk1"/>
                </a:solidFill>
                <a:latin typeface="Calibri"/>
                <a:ea typeface="Calibri"/>
                <a:cs typeface="Calibri"/>
                <a:sym typeface="Calibri"/>
              </a:rPr>
              <a:t>Pasting multi-line bash heredoc commands into the WSL terminal caused lines to get mixed up and files to be written incorrectly. Switched to using python3 - &lt;&lt; 'PYEOF' Python inline scripts for all file writing, which handled multi-line content reliably.</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55" name="Shape 255"/>
        <p:cNvGrpSpPr/>
        <p:nvPr/>
      </p:nvGrpSpPr>
      <p:grpSpPr>
        <a:xfrm>
          <a:off x="0" y="0"/>
          <a:ext cx="0" cy="0"/>
          <a:chOff x="0" y="0"/>
          <a:chExt cx="0" cy="0"/>
        </a:xfrm>
      </p:grpSpPr>
      <p:graphicFrame>
        <p:nvGraphicFramePr>
          <p:cNvPr id="256" name="Google Shape;256;g3dc97b155af_0_26"/>
          <p:cNvGraphicFramePr/>
          <p:nvPr/>
        </p:nvGraphicFramePr>
        <p:xfrm>
          <a:off x="4892800" y="2988325"/>
          <a:ext cx="3000000" cy="3000000"/>
        </p:xfrm>
        <a:graphic>
          <a:graphicData uri="http://schemas.openxmlformats.org/drawingml/2006/table">
            <a:tbl>
              <a:tblPr>
                <a:noFill/>
                <a:tableStyleId>{638AE3AB-65F7-4BB3-BCFA-9C31ED48BC52}</a:tableStyleId>
              </a:tblPr>
              <a:tblGrid>
                <a:gridCol w="1162050"/>
                <a:gridCol w="1228725"/>
                <a:gridCol w="164782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Event date — join key</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event_type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conflict, sanctions, policy, etc.</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event_description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Narrative 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event_severity</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INTEGER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Severity score 1–5</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
        <p:nvSpPr>
          <p:cNvPr id="257" name="Google Shape;257;g3dc97b155af_0_26"/>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dc97b155af_0_26"/>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Schema View</a:t>
            </a:r>
            <a:endParaRPr b="1" sz="2400">
              <a:solidFill>
                <a:srgbClr val="FFFFFF"/>
              </a:solidFill>
              <a:latin typeface="Calibri"/>
              <a:ea typeface="Calibri"/>
              <a:cs typeface="Calibri"/>
              <a:sym typeface="Calibri"/>
            </a:endParaRPr>
          </a:p>
        </p:txBody>
      </p:sp>
      <p:sp>
        <p:nvSpPr>
          <p:cNvPr id="259" name="Google Shape;259;g3dc97b155af_0_26"/>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60" name="Google Shape;260;g3dc97b155af_0_26"/>
          <p:cNvSpPr txBox="1"/>
          <p:nvPr/>
        </p:nvSpPr>
        <p:spPr>
          <a:xfrm>
            <a:off x="383675" y="677660"/>
            <a:ext cx="8030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Calibri"/>
                <a:ea typeface="Calibri"/>
                <a:cs typeface="Calibri"/>
                <a:sym typeface="Calibri"/>
              </a:rPr>
              <a:t>Table 1: raw_oil_prices — 4,047 rows</a:t>
            </a:r>
            <a:endParaRPr b="1" sz="1200">
              <a:latin typeface="Calibri"/>
              <a:ea typeface="Calibri"/>
              <a:cs typeface="Calibri"/>
              <a:sym typeface="Calibri"/>
            </a:endParaRPr>
          </a:p>
          <a:p>
            <a:pPr indent="0" lvl="0" marL="0" rtl="0" algn="l">
              <a:spcBef>
                <a:spcPts val="0"/>
              </a:spcBef>
              <a:spcAft>
                <a:spcPts val="0"/>
              </a:spcAft>
              <a:buNone/>
            </a:pPr>
            <a:r>
              <a:rPr b="1" lang="en-US" sz="1200">
                <a:latin typeface="Calibri"/>
                <a:ea typeface="Calibri"/>
                <a:cs typeface="Calibri"/>
                <a:sym typeface="Calibri"/>
              </a:rPr>
              <a:t>Table 2: raw_geo_events — 35 rows</a:t>
            </a:r>
            <a:endParaRPr b="1" sz="12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Schema Flows Into BigQuery via dbt </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DuckDB (auto-inferred) → Meltano → BigQuery raw tables</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stg_oil_prices     → casts date→DATE, prices→FLOAT64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stg_geo_events     → casts date→DATE, severity→INT64</a:t>
            </a:r>
            <a:endParaRPr sz="1100">
              <a:latin typeface="Calibri"/>
              <a:ea typeface="Calibri"/>
              <a:cs typeface="Calibri"/>
              <a:sym typeface="Calibri"/>
            </a:endParaRPr>
          </a:p>
          <a:p>
            <a:pPr indent="0" lvl="0" marL="0" rtl="0" algn="l">
              <a:spcBef>
                <a:spcPts val="0"/>
              </a:spcBef>
              <a:spcAft>
                <a:spcPts val="0"/>
              </a:spcAft>
              <a:buNone/>
            </a:pPr>
            <a:r>
              <a:rPr lang="en-US" sz="1100">
                <a:latin typeface="Calibri"/>
                <a:ea typeface="Calibri"/>
                <a:cs typeface="Calibri"/>
                <a:sym typeface="Calibri"/>
              </a:rPr>
              <a:t>                              dbt mart_oil_geopolitics → LEFT JOIN on date</a:t>
            </a:r>
            <a:endParaRPr sz="1100">
              <a:latin typeface="Calibri"/>
              <a:ea typeface="Calibri"/>
              <a:cs typeface="Calibri"/>
              <a:sym typeface="Calibri"/>
            </a:endParaRPr>
          </a:p>
        </p:txBody>
      </p:sp>
      <p:graphicFrame>
        <p:nvGraphicFramePr>
          <p:cNvPr id="261" name="Google Shape;261;g3dc97b155af_0_26"/>
          <p:cNvGraphicFramePr/>
          <p:nvPr/>
        </p:nvGraphicFramePr>
        <p:xfrm>
          <a:off x="139025" y="2512075"/>
          <a:ext cx="3000000" cy="3000000"/>
        </p:xfrm>
        <a:graphic>
          <a:graphicData uri="http://schemas.openxmlformats.org/drawingml/2006/table">
            <a:tbl>
              <a:tblPr>
                <a:noFill/>
                <a:tableStyleId>{638AE3AB-65F7-4BB3-BCFA-9C31ED48BC52}</a:tableStyleId>
              </a:tblPr>
              <a:tblGrid>
                <a:gridCol w="990600"/>
                <a:gridCol w="1228725"/>
                <a:gridCol w="1857375"/>
              </a:tblGrid>
              <a:tr h="209550">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Column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Type (auto-inferred)</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000">
                          <a:solidFill>
                            <a:schemeClr val="dk1"/>
                          </a:solidFill>
                          <a:latin typeface="Roboto"/>
                          <a:ea typeface="Roboto"/>
                          <a:cs typeface="Roboto"/>
                          <a:sym typeface="Roboto"/>
                        </a:rPr>
                        <a:t>Description</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date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DATE / VARCHAR</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Trading date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Brent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wti_price</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WTI crude USD/barrel</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dxy_index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US Dollar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vix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CBOE Volatility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gpr_index</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Geopolitical Risk Index</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brent_return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Brent</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900">
                          <a:solidFill>
                            <a:schemeClr val="dk1"/>
                          </a:solidFill>
                          <a:latin typeface="Roboto Mono"/>
                          <a:ea typeface="Roboto Mono"/>
                          <a:cs typeface="Roboto Mono"/>
                          <a:sym typeface="Roboto Mono"/>
                        </a:rPr>
                        <a:t>wti_return</a:t>
                      </a:r>
                      <a:endParaRPr b="1" sz="900">
                        <a:solidFill>
                          <a:schemeClr val="dk1"/>
                        </a:solidFill>
                        <a:latin typeface="Roboto Mono"/>
                        <a:ea typeface="Roboto Mono"/>
                        <a:cs typeface="Roboto Mono"/>
                        <a:sym typeface="Roboto Mon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Daily log return — WTI</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r h="209550">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Lag/volatility cols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DOUBLE</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c>
                  <a:txBody>
                    <a:bodyPr/>
                    <a:lstStyle/>
                    <a:p>
                      <a:pPr indent="0" lvl="0" marL="0" rtl="0" algn="l">
                        <a:spcBef>
                          <a:spcPts val="0"/>
                        </a:spcBef>
                        <a:spcAft>
                          <a:spcPts val="0"/>
                        </a:spcAft>
                        <a:buNone/>
                      </a:pPr>
                      <a:r>
                        <a:rPr b="1" lang="en-US" sz="1000">
                          <a:solidFill>
                            <a:schemeClr val="dk1"/>
                          </a:solidFill>
                          <a:latin typeface="Roboto"/>
                          <a:ea typeface="Roboto"/>
                          <a:cs typeface="Roboto"/>
                          <a:sym typeface="Roboto"/>
                        </a:rPr>
                        <a:t>Rolling volatility + lagged returns</a:t>
                      </a:r>
                      <a:endParaRPr b="1" sz="1000">
                        <a:solidFill>
                          <a:schemeClr val="dk1"/>
                        </a:solidFill>
                        <a:latin typeface="Roboto"/>
                        <a:ea typeface="Roboto"/>
                        <a:cs typeface="Roboto"/>
                        <a:sym typeface="Roboto"/>
                      </a:endParaRPr>
                    </a:p>
                  </a:txBody>
                  <a:tcPr marT="19050" marB="19050" marR="19050" marL="19050">
                    <a:lnL cap="flat" cmpd="sng" w="6100">
                      <a:solidFill>
                        <a:srgbClr val="454545"/>
                      </a:solidFill>
                      <a:prstDash val="solid"/>
                      <a:round/>
                      <a:headEnd len="sm" w="sm" type="none"/>
                      <a:tailEnd len="sm" w="sm" type="none"/>
                    </a:lnL>
                    <a:lnR cap="flat" cmpd="sng" w="6100">
                      <a:solidFill>
                        <a:srgbClr val="454545"/>
                      </a:solidFill>
                      <a:prstDash val="solid"/>
                      <a:round/>
                      <a:headEnd len="sm" w="sm" type="none"/>
                      <a:tailEnd len="sm" w="sm" type="none"/>
                    </a:lnR>
                    <a:lnT cap="flat" cmpd="sng" w="6100">
                      <a:solidFill>
                        <a:srgbClr val="454545"/>
                      </a:solidFill>
                      <a:prstDash val="solid"/>
                      <a:round/>
                      <a:headEnd len="sm" w="sm" type="none"/>
                      <a:tailEnd len="sm" w="sm" type="none"/>
                    </a:lnT>
                    <a:lnB cap="flat" cmpd="sng" w="6100">
                      <a:solidFill>
                        <a:srgbClr val="454545"/>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66" name="Shape 266"/>
        <p:cNvGrpSpPr/>
        <p:nvPr/>
      </p:nvGrpSpPr>
      <p:grpSpPr>
        <a:xfrm>
          <a:off x="0" y="0"/>
          <a:ext cx="0" cy="0"/>
          <a:chOff x="0" y="0"/>
          <a:chExt cx="0" cy="0"/>
        </a:xfrm>
      </p:grpSpPr>
      <p:sp>
        <p:nvSpPr>
          <p:cNvPr id="267" name="Google Shape;267;g3dc97b155af_0_59"/>
          <p:cNvSpPr/>
          <p:nvPr/>
        </p:nvSpPr>
        <p:spPr>
          <a:xfrm>
            <a:off x="0" y="0"/>
            <a:ext cx="9144000" cy="519000"/>
          </a:xfrm>
          <a:prstGeom prst="rect">
            <a:avLst/>
          </a:prstGeom>
          <a:solidFill>
            <a:srgbClr val="0F3460"/>
          </a:solidFill>
          <a:ln cap="flat" cmpd="sng" w="12700">
            <a:solidFill>
              <a:srgbClr val="0F34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dc97b155af_0_59"/>
          <p:cNvSpPr/>
          <p:nvPr/>
        </p:nvSpPr>
        <p:spPr>
          <a:xfrm>
            <a:off x="139035" y="-37685"/>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400">
                <a:solidFill>
                  <a:srgbClr val="FFFFFF"/>
                </a:solidFill>
                <a:latin typeface="Calibri"/>
                <a:ea typeface="Calibri"/>
                <a:cs typeface="Calibri"/>
                <a:sym typeface="Calibri"/>
              </a:rPr>
              <a:t>Schema View</a:t>
            </a:r>
            <a:endParaRPr b="1" sz="2400">
              <a:solidFill>
                <a:srgbClr val="FFFFFF"/>
              </a:solidFill>
              <a:latin typeface="Calibri"/>
              <a:ea typeface="Calibri"/>
              <a:cs typeface="Calibri"/>
              <a:sym typeface="Calibri"/>
            </a:endParaRPr>
          </a:p>
        </p:txBody>
      </p:sp>
      <p:sp>
        <p:nvSpPr>
          <p:cNvPr id="269" name="Google Shape;269;g3dc97b155af_0_59"/>
          <p:cNvSpPr txBox="1"/>
          <p:nvPr/>
        </p:nvSpPr>
        <p:spPr>
          <a:xfrm>
            <a:off x="86600" y="3965550"/>
            <a:ext cx="5803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200">
              <a:solidFill>
                <a:schemeClr val="dk1"/>
              </a:solidFill>
            </a:endParaRPr>
          </a:p>
        </p:txBody>
      </p:sp>
      <p:sp>
        <p:nvSpPr>
          <p:cNvPr id="270" name="Google Shape;270;g3dc97b155af_0_59"/>
          <p:cNvSpPr txBox="1"/>
          <p:nvPr/>
        </p:nvSpPr>
        <p:spPr>
          <a:xfrm>
            <a:off x="5453811" y="1965791"/>
            <a:ext cx="3000000" cy="31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BigQuery raw tables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Jobs API via REST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dbt models (SQL views)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(Python subprocess API)</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Dagster assets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REST API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Jupyter / pandas DataFrame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(BigQuery REST API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en-US" sz="1100">
                <a:solidFill>
                  <a:schemeClr val="dk1"/>
                </a:solidFill>
                <a:latin typeface="Calibri"/>
                <a:ea typeface="Calibri"/>
                <a:cs typeface="Calibri"/>
                <a:sym typeface="Calibri"/>
              </a:rPr>
              <a:t>Power BI dashboard</a:t>
            </a:r>
            <a:endParaRPr sz="1100">
              <a:solidFill>
                <a:schemeClr val="dk1"/>
              </a:solidFill>
              <a:latin typeface="Calibri"/>
              <a:ea typeface="Calibri"/>
              <a:cs typeface="Calibri"/>
              <a:sym typeface="Calibri"/>
            </a:endParaRPr>
          </a:p>
        </p:txBody>
      </p:sp>
      <p:sp>
        <p:nvSpPr>
          <p:cNvPr id="271" name="Google Shape;271;g3dc97b155af_0_59"/>
          <p:cNvSpPr txBox="1"/>
          <p:nvPr/>
        </p:nvSpPr>
        <p:spPr>
          <a:xfrm>
            <a:off x="90950" y="462075"/>
            <a:ext cx="4640100" cy="31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CSV Files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(file read — no API)</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DuckDB (local SQL engine)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(Singer JSON messages via Unix pipe)</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Meltano tap-csv</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 (Singer JSON messages)</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Meltano target-bigquery  </a:t>
            </a:r>
            <a:r>
              <a:rPr lang="en-US" sz="1100">
                <a:solidFill>
                  <a:schemeClr val="dk1"/>
                </a:solidFill>
                <a:latin typeface="Calibri"/>
                <a:ea typeface="Calibri"/>
                <a:cs typeface="Calibri"/>
                <a:sym typeface="Calibri"/>
              </a:rPr>
              <a:t>→ (BigQuery Storage Write API via gRPC + ADC)</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n-US"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sz="1100">
              <a:latin typeface="Calibri"/>
              <a:ea typeface="Calibri"/>
              <a:cs typeface="Calibri"/>
              <a:sym typeface="Calibri"/>
            </a:endParaRPr>
          </a:p>
        </p:txBody>
      </p:sp>
      <p:sp>
        <p:nvSpPr>
          <p:cNvPr id="272" name="Google Shape;272;g3dc97b155af_0_59"/>
          <p:cNvSpPr txBox="1"/>
          <p:nvPr/>
        </p:nvSpPr>
        <p:spPr>
          <a:xfrm>
            <a:off x="4731170" y="256130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2026-03-15T14:30:12Z</dcterms:created>
  <dc:creator>Data Engineering Team</dc:creator>
</cp:coreProperties>
</file>